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Arimo" charset="1" panose="020B0604020202020204"/>
      <p:regular r:id="rId34"/>
    </p:embeddedFont>
    <p:embeddedFont>
      <p:font typeface="Canva Sans" charset="1" panose="020B0503030501040103"/>
      <p:regular r:id="rId35"/>
    </p:embeddedFont>
    <p:embeddedFont>
      <p:font typeface="Canva Sans Bold" charset="1" panose="020B0803030501040103"/>
      <p:regular r:id="rId36"/>
    </p:embeddedFont>
    <p:embeddedFont>
      <p:font typeface="Poppins Bold" charset="1" panose="00000800000000000000"/>
      <p:regular r:id="rId38"/>
    </p:embeddedFont>
    <p:embeddedFont>
      <p:font typeface="Arimo Bold" charset="1" panose="020B0704020202020204"/>
      <p:regular r:id="rId40"/>
    </p:embeddedFont>
    <p:embeddedFont>
      <p:font typeface="DM Sans" charset="1" panose="00000000000000000000"/>
      <p:regular r:id="rId41"/>
    </p:embeddedFont>
    <p:embeddedFont>
      <p:font typeface="DM Sans Bold" charset="1" panose="000000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2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3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notesSlides/notesSlide4.xml" Type="http://schemas.openxmlformats.org/officeDocument/2006/relationships/notesSlide"/><Relationship Id="rId44" Target="notesSlides/notesSlide5.xml" Type="http://schemas.openxmlformats.org/officeDocument/2006/relationships/notesSlide"/><Relationship Id="rId45" Target="notesSlides/notesSlide6.xml" Type="http://schemas.openxmlformats.org/officeDocument/2006/relationships/notesSlide"/><Relationship Id="rId46" Target="notesSlides/notesSlide7.xml" Type="http://schemas.openxmlformats.org/officeDocument/2006/relationships/notesSlide"/><Relationship Id="rId47" Target="notesSlides/notesSlide8.xml" Type="http://schemas.openxmlformats.org/officeDocument/2006/relationships/notesSlide"/><Relationship Id="rId48" Target="notesSlides/notesSlide9.xml" Type="http://schemas.openxmlformats.org/officeDocument/2006/relationships/notesSlide"/><Relationship Id="rId49" Target="notesSlides/notesSlide10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1.xml" Type="http://schemas.openxmlformats.org/officeDocument/2006/relationships/notesSlide"/><Relationship Id="rId51" Target="notesSlides/notesSlide12.xml" Type="http://schemas.openxmlformats.org/officeDocument/2006/relationships/notesSlide"/><Relationship Id="rId52" Target="notesSlides/notesSlide13.xml" Type="http://schemas.openxmlformats.org/officeDocument/2006/relationships/notesSlide"/><Relationship Id="rId53" Target="notesSlides/notesSlide14.xml" Type="http://schemas.openxmlformats.org/officeDocument/2006/relationships/notesSlide"/><Relationship Id="rId54" Target="notesSlides/notesSlide15.xml" Type="http://schemas.openxmlformats.org/officeDocument/2006/relationships/notesSlide"/><Relationship Id="rId55" Target="notesSlides/notesSlide16.xml" Type="http://schemas.openxmlformats.org/officeDocument/2006/relationships/notesSlide"/><Relationship Id="rId56" Target="notesSlides/notesSlide17.xml" Type="http://schemas.openxmlformats.org/officeDocument/2006/relationships/notesSlide"/><Relationship Id="rId57" Target="notesSlides/notesSlide18.xml" Type="http://schemas.openxmlformats.org/officeDocument/2006/relationships/notesSlide"/><Relationship Id="rId58" Target="notesSlides/notesSlide19.xml" Type="http://schemas.openxmlformats.org/officeDocument/2006/relationships/notesSlide"/><Relationship Id="rId59" Target="notesSlides/notesSlide20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1.xml" Type="http://schemas.openxmlformats.org/officeDocument/2006/relationships/notesSlide"/><Relationship Id="rId61" Target="notesSlides/notesSlide22.xml" Type="http://schemas.openxmlformats.org/officeDocument/2006/relationships/notesSlide"/><Relationship Id="rId62" Target="notesSlides/notesSlide23.xml" Type="http://schemas.openxmlformats.org/officeDocument/2006/relationships/notesSlide"/><Relationship Id="rId63" Target="notesSlides/notesSlide24.xml" Type="http://schemas.openxmlformats.org/officeDocument/2006/relationships/notesSlide"/><Relationship Id="rId64" Target="notesSlides/notesSlide25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jpe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svg" Type="http://schemas.openxmlformats.org/officeDocument/2006/relationships/image"/><Relationship Id="rId11" Target="../media/image54.png" Type="http://schemas.openxmlformats.org/officeDocument/2006/relationships/image"/><Relationship Id="rId12" Target="../media/image55.svg" Type="http://schemas.openxmlformats.org/officeDocument/2006/relationships/image"/><Relationship Id="rId13" Target="../media/image56.png" Type="http://schemas.openxmlformats.org/officeDocument/2006/relationships/image"/><Relationship Id="rId14" Target="../media/image57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svg" Type="http://schemas.openxmlformats.org/officeDocument/2006/relationships/image"/><Relationship Id="rId11" Target="../media/image64.png" Type="http://schemas.openxmlformats.org/officeDocument/2006/relationships/image"/><Relationship Id="rId12" Target="../media/image65.svg" Type="http://schemas.openxmlformats.org/officeDocument/2006/relationships/image"/><Relationship Id="rId13" Target="../media/image66.png" Type="http://schemas.openxmlformats.org/officeDocument/2006/relationships/image"/><Relationship Id="rId14" Target="../media/image67.svg" Type="http://schemas.openxmlformats.org/officeDocument/2006/relationships/image"/><Relationship Id="rId15" Target="../media/image68.png" Type="http://schemas.openxmlformats.org/officeDocument/2006/relationships/image"/><Relationship Id="rId16" Target="../media/image69.svg" Type="http://schemas.openxmlformats.org/officeDocument/2006/relationships/image"/><Relationship Id="rId17" Target="../media/image70.png" Type="http://schemas.openxmlformats.org/officeDocument/2006/relationships/image"/><Relationship Id="rId18" Target="../media/image71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62.png" Type="http://schemas.openxmlformats.org/officeDocument/2006/relationships/image"/><Relationship Id="rId6" Target="../media/image63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72.png" Type="http://schemas.openxmlformats.org/officeDocument/2006/relationships/image"/><Relationship Id="rId4" Target="../media/image7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56.png" Type="http://schemas.openxmlformats.org/officeDocument/2006/relationships/image"/><Relationship Id="rId4" Target="../media/image57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56.png" Type="http://schemas.openxmlformats.org/officeDocument/2006/relationships/image"/><Relationship Id="rId4" Target="../media/image57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56.png" Type="http://schemas.openxmlformats.org/officeDocument/2006/relationships/image"/><Relationship Id="rId4" Target="../media/image57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56.png" Type="http://schemas.openxmlformats.org/officeDocument/2006/relationships/image"/><Relationship Id="rId4" Target="../media/image57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56.png" Type="http://schemas.openxmlformats.org/officeDocument/2006/relationships/image"/><Relationship Id="rId4" Target="../media/image57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2" Target="../notesSlides/notesSlide17.xml" Type="http://schemas.openxmlformats.org/officeDocument/2006/relationships/notesSlid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88.png" Type="http://schemas.openxmlformats.org/officeDocument/2006/relationships/image"/><Relationship Id="rId2" Target="../notesSlides/notesSlide18.xml" Type="http://schemas.openxmlformats.org/officeDocument/2006/relationships/notesSlide"/><Relationship Id="rId3" Target="../media/image84.png" Type="http://schemas.openxmlformats.org/officeDocument/2006/relationships/image"/><Relationship Id="rId4" Target="../media/image85.svg" Type="http://schemas.openxmlformats.org/officeDocument/2006/relationships/image"/><Relationship Id="rId5" Target="../media/image86.png" Type="http://schemas.openxmlformats.org/officeDocument/2006/relationships/image"/><Relationship Id="rId6" Target="../media/image87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89.png" Type="http://schemas.openxmlformats.org/officeDocument/2006/relationships/image"/><Relationship Id="rId2" Target="../notesSlides/notesSlide19.xml" Type="http://schemas.openxmlformats.org/officeDocument/2006/relationships/notesSlide"/><Relationship Id="rId3" Target="../media/image84.png" Type="http://schemas.openxmlformats.org/officeDocument/2006/relationships/image"/><Relationship Id="rId4" Target="../media/image85.svg" Type="http://schemas.openxmlformats.org/officeDocument/2006/relationships/image"/><Relationship Id="rId5" Target="../media/image86.png" Type="http://schemas.openxmlformats.org/officeDocument/2006/relationships/image"/><Relationship Id="rId6" Target="../media/image87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90.png" Type="http://schemas.openxmlformats.org/officeDocument/2006/relationships/image"/><Relationship Id="rId2" Target="../notesSlides/notesSlide20.xml" Type="http://schemas.openxmlformats.org/officeDocument/2006/relationships/notesSlide"/><Relationship Id="rId3" Target="../media/image84.png" Type="http://schemas.openxmlformats.org/officeDocument/2006/relationships/image"/><Relationship Id="rId4" Target="../media/image85.svg" Type="http://schemas.openxmlformats.org/officeDocument/2006/relationships/image"/><Relationship Id="rId5" Target="../media/image86.png" Type="http://schemas.openxmlformats.org/officeDocument/2006/relationships/image"/><Relationship Id="rId6" Target="../media/image87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91.png" Type="http://schemas.openxmlformats.org/officeDocument/2006/relationships/image"/><Relationship Id="rId2" Target="../notesSlides/notesSlide21.xml" Type="http://schemas.openxmlformats.org/officeDocument/2006/relationships/notesSlide"/><Relationship Id="rId3" Target="../media/image84.png" Type="http://schemas.openxmlformats.org/officeDocument/2006/relationships/image"/><Relationship Id="rId4" Target="../media/image85.svg" Type="http://schemas.openxmlformats.org/officeDocument/2006/relationships/image"/><Relationship Id="rId5" Target="../media/image86.png" Type="http://schemas.openxmlformats.org/officeDocument/2006/relationships/image"/><Relationship Id="rId6" Target="../media/image87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92.png" Type="http://schemas.openxmlformats.org/officeDocument/2006/relationships/image"/><Relationship Id="rId2" Target="../notesSlides/notesSlide22.xml" Type="http://schemas.openxmlformats.org/officeDocument/2006/relationships/notesSlide"/><Relationship Id="rId3" Target="../media/image84.png" Type="http://schemas.openxmlformats.org/officeDocument/2006/relationships/image"/><Relationship Id="rId4" Target="../media/image85.svg" Type="http://schemas.openxmlformats.org/officeDocument/2006/relationships/image"/><Relationship Id="rId5" Target="../media/image86.png" Type="http://schemas.openxmlformats.org/officeDocument/2006/relationships/image"/><Relationship Id="rId6" Target="../media/image87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93.png" Type="http://schemas.openxmlformats.org/officeDocument/2006/relationships/image"/><Relationship Id="rId12" Target="../media/image94.svg" Type="http://schemas.openxmlformats.org/officeDocument/2006/relationships/image"/><Relationship Id="rId13" Target="../media/image95.png" Type="http://schemas.openxmlformats.org/officeDocument/2006/relationships/image"/><Relationship Id="rId14" Target="../media/image96.svg" Type="http://schemas.openxmlformats.org/officeDocument/2006/relationships/image"/><Relationship Id="rId15" Target="../media/image97.png" Type="http://schemas.openxmlformats.org/officeDocument/2006/relationships/image"/><Relationship Id="rId16" Target="../media/image98.svg" Type="http://schemas.openxmlformats.org/officeDocument/2006/relationships/image"/><Relationship Id="rId17" Target="../media/image99.png" Type="http://schemas.openxmlformats.org/officeDocument/2006/relationships/image"/><Relationship Id="rId18" Target="../media/image100.svg" Type="http://schemas.openxmlformats.org/officeDocument/2006/relationships/image"/><Relationship Id="rId2" Target="../notesSlides/notesSlide23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svg" Type="http://schemas.openxmlformats.org/officeDocument/2006/relationships/image"/><Relationship Id="rId11" Target="../media/image107.png" Type="http://schemas.openxmlformats.org/officeDocument/2006/relationships/image"/><Relationship Id="rId12" Target="../media/image108.svg" Type="http://schemas.openxmlformats.org/officeDocument/2006/relationships/image"/><Relationship Id="rId13" Target="../media/image109.png" Type="http://schemas.openxmlformats.org/officeDocument/2006/relationships/image"/><Relationship Id="rId14" Target="../media/image110.svg" Type="http://schemas.openxmlformats.org/officeDocument/2006/relationships/image"/><Relationship Id="rId15" Target="../media/image111.png" Type="http://schemas.openxmlformats.org/officeDocument/2006/relationships/image"/><Relationship Id="rId16" Target="../media/image112.svg" Type="http://schemas.openxmlformats.org/officeDocument/2006/relationships/image"/><Relationship Id="rId17" Target="../media/image113.png" Type="http://schemas.openxmlformats.org/officeDocument/2006/relationships/image"/><Relationship Id="rId18" Target="../media/image114.svg" Type="http://schemas.openxmlformats.org/officeDocument/2006/relationships/image"/><Relationship Id="rId19" Target="../media/image115.jpeg" Type="http://schemas.openxmlformats.org/officeDocument/2006/relationships/image"/><Relationship Id="rId2" Target="../notesSlides/notesSlide24.xml" Type="http://schemas.openxmlformats.org/officeDocument/2006/relationships/notesSlide"/><Relationship Id="rId3" Target="../media/image101.png" Type="http://schemas.openxmlformats.org/officeDocument/2006/relationships/image"/><Relationship Id="rId4" Target="../media/image102.svg" Type="http://schemas.openxmlformats.org/officeDocument/2006/relationships/image"/><Relationship Id="rId5" Target="../media/image103.png" Type="http://schemas.openxmlformats.org/officeDocument/2006/relationships/image"/><Relationship Id="rId6" Target="../media/image10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2" Target="../notesSlides/notesSlide25.xml" Type="http://schemas.openxmlformats.org/officeDocument/2006/relationships/notesSlide"/><Relationship Id="rId3" Target="../media/image116.png" Type="http://schemas.openxmlformats.org/officeDocument/2006/relationships/image"/><Relationship Id="rId4" Target="../media/image117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118.png" Type="http://schemas.openxmlformats.org/officeDocument/2006/relationships/image"/><Relationship Id="rId8" Target="../media/image119.svg" Type="http://schemas.openxmlformats.org/officeDocument/2006/relationships/image"/><Relationship Id="rId9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2554" y="8422210"/>
            <a:ext cx="2218190" cy="1864501"/>
          </a:xfrm>
          <a:custGeom>
            <a:avLst/>
            <a:gdLst/>
            <a:ahLst/>
            <a:cxnLst/>
            <a:rect r="r" b="b" t="t" l="l"/>
            <a:pathLst>
              <a:path h="1864501" w="2218190">
                <a:moveTo>
                  <a:pt x="0" y="0"/>
                </a:moveTo>
                <a:lnTo>
                  <a:pt x="2218190" y="0"/>
                </a:lnTo>
                <a:lnTo>
                  <a:pt x="2218190" y="1864501"/>
                </a:lnTo>
                <a:lnTo>
                  <a:pt x="0" y="18645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34576" y="2672076"/>
            <a:ext cx="6118200" cy="6118200"/>
            <a:chOff x="0" y="0"/>
            <a:chExt cx="8157600" cy="8157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57591" cy="8157591"/>
            </a:xfrm>
            <a:custGeom>
              <a:avLst/>
              <a:gdLst/>
              <a:ahLst/>
              <a:cxnLst/>
              <a:rect r="r" b="b" t="t" l="l"/>
              <a:pathLst>
                <a:path h="8157591" w="8157591">
                  <a:moveTo>
                    <a:pt x="0" y="4078859"/>
                  </a:moveTo>
                  <a:cubicBezTo>
                    <a:pt x="0" y="1826133"/>
                    <a:pt x="1826133" y="0"/>
                    <a:pt x="4078859" y="0"/>
                  </a:cubicBezTo>
                  <a:cubicBezTo>
                    <a:pt x="6331586" y="0"/>
                    <a:pt x="8157591" y="1826133"/>
                    <a:pt x="8157591" y="4078859"/>
                  </a:cubicBezTo>
                  <a:cubicBezTo>
                    <a:pt x="8157591" y="6331586"/>
                    <a:pt x="6331458" y="8157591"/>
                    <a:pt x="4078859" y="8157591"/>
                  </a:cubicBezTo>
                  <a:cubicBezTo>
                    <a:pt x="1826260" y="8157591"/>
                    <a:pt x="0" y="6331458"/>
                    <a:pt x="0" y="4078859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33137" y="2107002"/>
            <a:ext cx="9384150" cy="3490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84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Accident Risk &amp; Severity Prediction </a:t>
            </a:r>
          </a:p>
          <a:p>
            <a:pPr algn="l">
              <a:lnSpc>
                <a:spcPts val="9072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233602" y="8422210"/>
            <a:ext cx="23899300" cy="9953266"/>
          </a:xfrm>
          <a:custGeom>
            <a:avLst/>
            <a:gdLst/>
            <a:ahLst/>
            <a:cxnLst/>
            <a:rect r="r" b="b" t="t" l="l"/>
            <a:pathLst>
              <a:path h="9953266" w="23899300">
                <a:moveTo>
                  <a:pt x="0" y="0"/>
                </a:moveTo>
                <a:lnTo>
                  <a:pt x="23899300" y="0"/>
                </a:lnTo>
                <a:lnTo>
                  <a:pt x="23899300" y="9953266"/>
                </a:lnTo>
                <a:lnTo>
                  <a:pt x="0" y="9953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17287" y="2139583"/>
            <a:ext cx="4800458" cy="7183186"/>
          </a:xfrm>
          <a:custGeom>
            <a:avLst/>
            <a:gdLst/>
            <a:ahLst/>
            <a:cxnLst/>
            <a:rect r="r" b="b" t="t" l="l"/>
            <a:pathLst>
              <a:path h="7183186" w="4800458">
                <a:moveTo>
                  <a:pt x="0" y="0"/>
                </a:moveTo>
                <a:lnTo>
                  <a:pt x="4800458" y="0"/>
                </a:lnTo>
                <a:lnTo>
                  <a:pt x="4800458" y="7183186"/>
                </a:lnTo>
                <a:lnTo>
                  <a:pt x="0" y="71831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06114">
            <a:off x="11866228" y="3081506"/>
            <a:ext cx="3102576" cy="5377108"/>
          </a:xfrm>
          <a:custGeom>
            <a:avLst/>
            <a:gdLst/>
            <a:ahLst/>
            <a:cxnLst/>
            <a:rect r="r" b="b" t="t" l="l"/>
            <a:pathLst>
              <a:path h="5377108" w="3102576">
                <a:moveTo>
                  <a:pt x="0" y="0"/>
                </a:moveTo>
                <a:lnTo>
                  <a:pt x="3102576" y="0"/>
                </a:lnTo>
                <a:lnTo>
                  <a:pt x="3102576" y="5377108"/>
                </a:lnTo>
                <a:lnTo>
                  <a:pt x="0" y="53771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35259" y="147346"/>
            <a:ext cx="1848082" cy="1224496"/>
          </a:xfrm>
          <a:custGeom>
            <a:avLst/>
            <a:gdLst/>
            <a:ahLst/>
            <a:cxnLst/>
            <a:rect r="r" b="b" t="t" l="l"/>
            <a:pathLst>
              <a:path h="1224496" w="1848082">
                <a:moveTo>
                  <a:pt x="0" y="0"/>
                </a:moveTo>
                <a:lnTo>
                  <a:pt x="1848082" y="0"/>
                </a:lnTo>
                <a:lnTo>
                  <a:pt x="1848082" y="1224496"/>
                </a:lnTo>
                <a:lnTo>
                  <a:pt x="0" y="12244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10488" y="526655"/>
            <a:ext cx="2445298" cy="845187"/>
          </a:xfrm>
          <a:custGeom>
            <a:avLst/>
            <a:gdLst/>
            <a:ahLst/>
            <a:cxnLst/>
            <a:rect r="r" b="b" t="t" l="l"/>
            <a:pathLst>
              <a:path h="845187" w="2445298">
                <a:moveTo>
                  <a:pt x="0" y="0"/>
                </a:moveTo>
                <a:lnTo>
                  <a:pt x="2445298" y="0"/>
                </a:lnTo>
                <a:lnTo>
                  <a:pt x="2445298" y="845187"/>
                </a:lnTo>
                <a:lnTo>
                  <a:pt x="0" y="8451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65648" y="4563110"/>
            <a:ext cx="719360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53868"/>
                </a:solidFill>
                <a:latin typeface="Canva Sans"/>
                <a:ea typeface="Canva Sans"/>
                <a:cs typeface="Canva Sans"/>
                <a:sym typeface="Canva Sans"/>
              </a:rPr>
              <a:t>AI and Machine Learning Concepts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00744" y="5664501"/>
            <a:ext cx="452020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5538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Supervisied by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5538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Dr. Walaa Elashmawy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97500" y="6927476"/>
            <a:ext cx="6118200" cy="6118200"/>
            <a:chOff x="0" y="0"/>
            <a:chExt cx="8157600" cy="815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7591" cy="8157591"/>
            </a:xfrm>
            <a:custGeom>
              <a:avLst/>
              <a:gdLst/>
              <a:ahLst/>
              <a:cxnLst/>
              <a:rect r="r" b="b" t="t" l="l"/>
              <a:pathLst>
                <a:path h="8157591" w="8157591">
                  <a:moveTo>
                    <a:pt x="0" y="4078859"/>
                  </a:moveTo>
                  <a:cubicBezTo>
                    <a:pt x="0" y="1826133"/>
                    <a:pt x="1826133" y="0"/>
                    <a:pt x="4078859" y="0"/>
                  </a:cubicBezTo>
                  <a:cubicBezTo>
                    <a:pt x="6331586" y="0"/>
                    <a:pt x="8157591" y="1826133"/>
                    <a:pt x="8157591" y="4078859"/>
                  </a:cubicBezTo>
                  <a:cubicBezTo>
                    <a:pt x="8157591" y="6331586"/>
                    <a:pt x="6331458" y="8157591"/>
                    <a:pt x="4078859" y="8157591"/>
                  </a:cubicBezTo>
                  <a:cubicBezTo>
                    <a:pt x="1826260" y="8157591"/>
                    <a:pt x="0" y="6331458"/>
                    <a:pt x="0" y="4078859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897022" y="8717312"/>
            <a:ext cx="1929058" cy="5836092"/>
          </a:xfrm>
          <a:custGeom>
            <a:avLst/>
            <a:gdLst/>
            <a:ahLst/>
            <a:cxnLst/>
            <a:rect r="r" b="b" t="t" l="l"/>
            <a:pathLst>
              <a:path h="5836092" w="1929058">
                <a:moveTo>
                  <a:pt x="0" y="0"/>
                </a:moveTo>
                <a:lnTo>
                  <a:pt x="1929058" y="0"/>
                </a:lnTo>
                <a:lnTo>
                  <a:pt x="1929058" y="5836092"/>
                </a:lnTo>
                <a:lnTo>
                  <a:pt x="0" y="5836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25986" y="9026324"/>
            <a:ext cx="1028498" cy="1261031"/>
          </a:xfrm>
          <a:custGeom>
            <a:avLst/>
            <a:gdLst/>
            <a:ahLst/>
            <a:cxnLst/>
            <a:rect r="r" b="b" t="t" l="l"/>
            <a:pathLst>
              <a:path h="1261031" w="1028498">
                <a:moveTo>
                  <a:pt x="0" y="0"/>
                </a:moveTo>
                <a:lnTo>
                  <a:pt x="1028498" y="0"/>
                </a:lnTo>
                <a:lnTo>
                  <a:pt x="1028498" y="1261031"/>
                </a:lnTo>
                <a:lnTo>
                  <a:pt x="0" y="12610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718500" y="-1532800"/>
            <a:ext cx="4158500" cy="3605000"/>
          </a:xfrm>
          <a:custGeom>
            <a:avLst/>
            <a:gdLst/>
            <a:ahLst/>
            <a:cxnLst/>
            <a:rect r="r" b="b" t="t" l="l"/>
            <a:pathLst>
              <a:path h="3605000" w="4158500">
                <a:moveTo>
                  <a:pt x="0" y="0"/>
                </a:moveTo>
                <a:lnTo>
                  <a:pt x="4158500" y="0"/>
                </a:lnTo>
                <a:lnTo>
                  <a:pt x="4158500" y="3605000"/>
                </a:lnTo>
                <a:lnTo>
                  <a:pt x="0" y="3605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86878" y="8004690"/>
            <a:ext cx="749314" cy="926300"/>
          </a:xfrm>
          <a:custGeom>
            <a:avLst/>
            <a:gdLst/>
            <a:ahLst/>
            <a:cxnLst/>
            <a:rect r="r" b="b" t="t" l="l"/>
            <a:pathLst>
              <a:path h="926300" w="749314">
                <a:moveTo>
                  <a:pt x="0" y="0"/>
                </a:moveTo>
                <a:lnTo>
                  <a:pt x="749314" y="0"/>
                </a:lnTo>
                <a:lnTo>
                  <a:pt x="749314" y="926300"/>
                </a:lnTo>
                <a:lnTo>
                  <a:pt x="0" y="926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947848" y="3348084"/>
            <a:ext cx="7681764" cy="474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67"/>
              </a:lnSpc>
            </a:pPr>
            <a:r>
              <a:rPr lang="en-US" sz="9047" b="true">
                <a:solidFill>
                  <a:srgbClr val="5538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Marwa Ashraf</a:t>
            </a:r>
          </a:p>
          <a:p>
            <a:pPr algn="ctr">
              <a:lnSpc>
                <a:spcPts val="12667"/>
              </a:lnSpc>
            </a:pPr>
            <a:r>
              <a:rPr lang="en-US" sz="9047" b="true">
                <a:solidFill>
                  <a:srgbClr val="5538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Nada Shady</a:t>
            </a:r>
          </a:p>
          <a:p>
            <a:pPr algn="ctr">
              <a:lnSpc>
                <a:spcPts val="12667"/>
              </a:lnSpc>
            </a:pPr>
            <a:r>
              <a:rPr lang="en-US" sz="9047" b="true">
                <a:solidFill>
                  <a:srgbClr val="5538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Dina Ali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02987" y="2297464"/>
            <a:ext cx="2671294" cy="1913618"/>
          </a:xfrm>
          <a:custGeom>
            <a:avLst/>
            <a:gdLst/>
            <a:ahLst/>
            <a:cxnLst/>
            <a:rect r="r" b="b" t="t" l="l"/>
            <a:pathLst>
              <a:path h="1913618" w="2671294">
                <a:moveTo>
                  <a:pt x="0" y="0"/>
                </a:moveTo>
                <a:lnTo>
                  <a:pt x="2671295" y="0"/>
                </a:lnTo>
                <a:lnTo>
                  <a:pt x="2671295" y="1913618"/>
                </a:lnTo>
                <a:lnTo>
                  <a:pt x="0" y="19136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31425" y="421039"/>
            <a:ext cx="1522515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b="true" sz="9999">
                <a:solidFill>
                  <a:srgbClr val="553868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Memebers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18500" y="-824800"/>
            <a:ext cx="4158500" cy="3605000"/>
          </a:xfrm>
          <a:custGeom>
            <a:avLst/>
            <a:gdLst/>
            <a:ahLst/>
            <a:cxnLst/>
            <a:rect r="r" b="b" t="t" l="l"/>
            <a:pathLst>
              <a:path h="3605000" w="4158500">
                <a:moveTo>
                  <a:pt x="0" y="0"/>
                </a:moveTo>
                <a:lnTo>
                  <a:pt x="4158500" y="0"/>
                </a:lnTo>
                <a:lnTo>
                  <a:pt x="4158500" y="3605000"/>
                </a:lnTo>
                <a:lnTo>
                  <a:pt x="0" y="3605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6426" y="9026128"/>
            <a:ext cx="1500024" cy="1260847"/>
          </a:xfrm>
          <a:custGeom>
            <a:avLst/>
            <a:gdLst/>
            <a:ahLst/>
            <a:cxnLst/>
            <a:rect r="r" b="b" t="t" l="l"/>
            <a:pathLst>
              <a:path h="1260847" w="1500024">
                <a:moveTo>
                  <a:pt x="0" y="0"/>
                </a:moveTo>
                <a:lnTo>
                  <a:pt x="1500024" y="0"/>
                </a:lnTo>
                <a:lnTo>
                  <a:pt x="1500024" y="1260847"/>
                </a:lnTo>
                <a:lnTo>
                  <a:pt x="0" y="1260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236013" y="3165477"/>
            <a:ext cx="5979000" cy="5979000"/>
            <a:chOff x="0" y="0"/>
            <a:chExt cx="7972000" cy="797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72044" cy="7972044"/>
            </a:xfrm>
            <a:custGeom>
              <a:avLst/>
              <a:gdLst/>
              <a:ahLst/>
              <a:cxnLst/>
              <a:rect r="r" b="b" t="t" l="l"/>
              <a:pathLst>
                <a:path h="7972044" w="7972044">
                  <a:moveTo>
                    <a:pt x="0" y="3986022"/>
                  </a:moveTo>
                  <a:cubicBezTo>
                    <a:pt x="0" y="1784604"/>
                    <a:pt x="1784604" y="0"/>
                    <a:pt x="3986022" y="0"/>
                  </a:cubicBezTo>
                  <a:cubicBezTo>
                    <a:pt x="6187440" y="0"/>
                    <a:pt x="7972044" y="1784604"/>
                    <a:pt x="7972044" y="3986022"/>
                  </a:cubicBezTo>
                  <a:cubicBezTo>
                    <a:pt x="7972044" y="6187440"/>
                    <a:pt x="6187440" y="7972044"/>
                    <a:pt x="3986022" y="7972044"/>
                  </a:cubicBezTo>
                  <a:cubicBezTo>
                    <a:pt x="1784603" y="7972044"/>
                    <a:pt x="0" y="6187440"/>
                    <a:pt x="0" y="3986022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413167" y="4714633"/>
            <a:ext cx="7739190" cy="4111224"/>
          </a:xfrm>
          <a:custGeom>
            <a:avLst/>
            <a:gdLst/>
            <a:ahLst/>
            <a:cxnLst/>
            <a:rect r="r" b="b" t="t" l="l"/>
            <a:pathLst>
              <a:path h="4111224" w="7739190">
                <a:moveTo>
                  <a:pt x="0" y="0"/>
                </a:moveTo>
                <a:lnTo>
                  <a:pt x="7739190" y="0"/>
                </a:lnTo>
                <a:lnTo>
                  <a:pt x="7739190" y="4111224"/>
                </a:lnTo>
                <a:lnTo>
                  <a:pt x="0" y="41112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31425" y="810025"/>
            <a:ext cx="1522515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9"/>
              </a:lnSpc>
            </a:pPr>
            <a:r>
              <a:rPr lang="en-US" b="true" sz="6199">
                <a:solidFill>
                  <a:srgbClr val="553868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6426" y="3693472"/>
            <a:ext cx="6820104" cy="506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🚑</a:t>
            </a:r>
            <a:r>
              <a:rPr lang="en-US" sz="2400" b="true">
                <a:solidFill>
                  <a:srgbClr val="553868"/>
                </a:solidFill>
                <a:latin typeface="DM Sans Bold"/>
                <a:ea typeface="DM Sans Bold"/>
                <a:cs typeface="DM Sans Bold"/>
                <a:sym typeface="DM Sans Bold"/>
              </a:rPr>
              <a:t> Emergency Services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 Prioritize response using severity prediction and risk scoring to reduce response time and improve survival rates.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553868"/>
                </a:solidFill>
                <a:latin typeface="DM Sans Bold"/>
                <a:ea typeface="DM Sans Bold"/>
                <a:cs typeface="DM Sans Bold"/>
                <a:sym typeface="DM Sans Bold"/>
              </a:rPr>
              <a:t>🏥 Emergency Medical Services (EMS) &amp; First Responders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 Optimize ambulance allocation, improve dispatch efficiency, and prepare medical teams based on predicted accident severity and geographic risk levels.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3965450" y="2056752"/>
            <a:ext cx="3119400" cy="794400"/>
            <a:chOff x="0" y="0"/>
            <a:chExt cx="4159200" cy="105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59250" cy="1705102"/>
            </a:xfrm>
            <a:custGeom>
              <a:avLst/>
              <a:gdLst/>
              <a:ahLst/>
              <a:cxnLst/>
              <a:rect r="r" b="b" t="t" l="l"/>
              <a:pathLst>
                <a:path h="1705102" w="4159250">
                  <a:moveTo>
                    <a:pt x="4159250" y="0"/>
                  </a:moveTo>
                  <a:lnTo>
                    <a:pt x="3465957" y="0"/>
                  </a:lnTo>
                  <a:lnTo>
                    <a:pt x="2426208" y="0"/>
                  </a:lnTo>
                  <a:lnTo>
                    <a:pt x="0" y="0"/>
                  </a:lnTo>
                  <a:lnTo>
                    <a:pt x="0" y="617855"/>
                  </a:lnTo>
                  <a:lnTo>
                    <a:pt x="0" y="882650"/>
                  </a:lnTo>
                  <a:lnTo>
                    <a:pt x="0" y="1059180"/>
                  </a:lnTo>
                  <a:lnTo>
                    <a:pt x="2426208" y="1059180"/>
                  </a:lnTo>
                  <a:lnTo>
                    <a:pt x="2561971" y="1705102"/>
                  </a:lnTo>
                  <a:lnTo>
                    <a:pt x="3465957" y="1059180"/>
                  </a:lnTo>
                  <a:lnTo>
                    <a:pt x="4159250" y="1059180"/>
                  </a:lnTo>
                  <a:lnTo>
                    <a:pt x="4159250" y="882650"/>
                  </a:lnTo>
                  <a:lnTo>
                    <a:pt x="4159250" y="617855"/>
                  </a:ln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159200" cy="1087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ACCIDENT!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306850" y="3693472"/>
            <a:ext cx="2436600" cy="1443528"/>
          </a:xfrm>
          <a:custGeom>
            <a:avLst/>
            <a:gdLst/>
            <a:ahLst/>
            <a:cxnLst/>
            <a:rect r="r" b="b" t="t" l="l"/>
            <a:pathLst>
              <a:path h="1443528" w="2436600">
                <a:moveTo>
                  <a:pt x="0" y="0"/>
                </a:moveTo>
                <a:lnTo>
                  <a:pt x="2436600" y="0"/>
                </a:lnTo>
                <a:lnTo>
                  <a:pt x="2436600" y="1443528"/>
                </a:lnTo>
                <a:lnTo>
                  <a:pt x="0" y="14435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2832101"/>
            <a:ext cx="5839181" cy="54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3"/>
              </a:lnSpc>
            </a:pPr>
            <a:r>
              <a:rPr lang="en-US" b="true" sz="3444">
                <a:solidFill>
                  <a:srgbClr val="553868"/>
                </a:solidFill>
                <a:latin typeface="Arimo Bold"/>
                <a:ea typeface="Arimo Bold"/>
                <a:cs typeface="Arimo Bold"/>
                <a:sym typeface="Arimo Bold"/>
              </a:rPr>
              <a:t>Proj</a:t>
            </a:r>
            <a:r>
              <a:rPr lang="en-US" b="true" sz="3444">
                <a:solidFill>
                  <a:srgbClr val="553868"/>
                </a:solidFill>
                <a:latin typeface="Arimo Bold"/>
                <a:ea typeface="Arimo Bold"/>
                <a:cs typeface="Arimo Bold"/>
                <a:sym typeface="Arimo Bold"/>
              </a:rPr>
              <a:t>ect Beneficiaries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3853407"/>
            <a:ext cx="4106880" cy="421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0"/>
              </a:lnSpc>
              <a:spcBef>
                <a:spcPct val="0"/>
              </a:spcBef>
            </a:pPr>
            <a:r>
              <a:rPr lang="en-US" b="true" sz="2771">
                <a:solidFill>
                  <a:srgbClr val="5538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la</a:t>
            </a:r>
            <a:r>
              <a:rPr lang="en-US" b="true" sz="2771">
                <a:solidFill>
                  <a:srgbClr val="5538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rge-scale accident data from Kaggle across the United States, this project generates insights that support safer roads and better decisions.</a:t>
            </a:r>
          </a:p>
          <a:p>
            <a:pPr algn="ctr">
              <a:lnSpc>
                <a:spcPts val="275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3032" y="-2734160"/>
            <a:ext cx="4653496" cy="8759990"/>
          </a:xfrm>
          <a:custGeom>
            <a:avLst/>
            <a:gdLst/>
            <a:ahLst/>
            <a:cxnLst/>
            <a:rect r="r" b="b" t="t" l="l"/>
            <a:pathLst>
              <a:path h="8759990" w="4653496">
                <a:moveTo>
                  <a:pt x="0" y="0"/>
                </a:moveTo>
                <a:lnTo>
                  <a:pt x="4653496" y="0"/>
                </a:lnTo>
                <a:lnTo>
                  <a:pt x="4653496" y="8759990"/>
                </a:lnTo>
                <a:lnTo>
                  <a:pt x="0" y="87599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03434" y="2256197"/>
            <a:ext cx="12414828" cy="67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553868"/>
                </a:solidFill>
                <a:latin typeface="DM Sans Bold"/>
                <a:ea typeface="DM Sans Bold"/>
                <a:cs typeface="DM Sans Bold"/>
                <a:sym typeface="DM Sans Bold"/>
              </a:rPr>
              <a:t>🚦 Road Safety Authorities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 Identify high-risk locations and improve infrastructure.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553868"/>
                </a:solidFill>
                <a:latin typeface="DM Sans Bold"/>
                <a:ea typeface="DM Sans Bold"/>
                <a:cs typeface="DM Sans Bold"/>
                <a:sym typeface="DM Sans Bold"/>
              </a:rPr>
              <a:t>🩺 Hospitals &amp; Trauma Centers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 Anticipate incoming critical cases, allocate ICU beds efficiently, and improve emergency preparedness using real-time risk insights.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553868"/>
                </a:solidFill>
                <a:latin typeface="DM Sans Bold"/>
                <a:ea typeface="DM Sans Bold"/>
                <a:cs typeface="DM Sans Bold"/>
                <a:sym typeface="DM Sans Bold"/>
              </a:rPr>
              <a:t>🏙️ Urban Planners &amp; Policy Makers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 Design safer transportation systems using data-driven decisions.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553868"/>
                </a:solidFill>
                <a:latin typeface="DM Sans Bold"/>
                <a:ea typeface="DM Sans Bold"/>
                <a:cs typeface="DM Sans Bold"/>
                <a:sym typeface="DM Sans Bold"/>
              </a:rPr>
              <a:t>🚗 Drivers &amp; Society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 Increase awareness and reduce accident risks through better understanding of dangerous areas and conditions.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1798312" y="6025830"/>
            <a:ext cx="8066400" cy="8066400"/>
            <a:chOff x="0" y="0"/>
            <a:chExt cx="10755200" cy="1075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55249" cy="10755249"/>
            </a:xfrm>
            <a:custGeom>
              <a:avLst/>
              <a:gdLst/>
              <a:ahLst/>
              <a:cxnLst/>
              <a:rect r="r" b="b" t="t" l="l"/>
              <a:pathLst>
                <a:path h="10755249" w="10755249">
                  <a:moveTo>
                    <a:pt x="0" y="5377561"/>
                  </a:moveTo>
                  <a:cubicBezTo>
                    <a:pt x="0" y="2407666"/>
                    <a:pt x="2407666" y="0"/>
                    <a:pt x="5377561" y="0"/>
                  </a:cubicBezTo>
                  <a:cubicBezTo>
                    <a:pt x="8347456" y="0"/>
                    <a:pt x="10755249" y="2407666"/>
                    <a:pt x="10755249" y="5377561"/>
                  </a:cubicBezTo>
                  <a:cubicBezTo>
                    <a:pt x="10755249" y="8347456"/>
                    <a:pt x="8347583" y="10755249"/>
                    <a:pt x="5377561" y="10755249"/>
                  </a:cubicBezTo>
                  <a:cubicBezTo>
                    <a:pt x="2407539" y="10755249"/>
                    <a:pt x="0" y="8347583"/>
                    <a:pt x="0" y="5377561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5800296" y="9207992"/>
            <a:ext cx="27696156" cy="3434432"/>
          </a:xfrm>
          <a:custGeom>
            <a:avLst/>
            <a:gdLst/>
            <a:ahLst/>
            <a:cxnLst/>
            <a:rect r="r" b="b" t="t" l="l"/>
            <a:pathLst>
              <a:path h="3434432" w="27696156">
                <a:moveTo>
                  <a:pt x="0" y="0"/>
                </a:moveTo>
                <a:lnTo>
                  <a:pt x="27696156" y="0"/>
                </a:lnTo>
                <a:lnTo>
                  <a:pt x="27696156" y="3434432"/>
                </a:lnTo>
                <a:lnTo>
                  <a:pt x="0" y="34344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22826" y="7947178"/>
            <a:ext cx="1500024" cy="1260847"/>
          </a:xfrm>
          <a:custGeom>
            <a:avLst/>
            <a:gdLst/>
            <a:ahLst/>
            <a:cxnLst/>
            <a:rect r="r" b="b" t="t" l="l"/>
            <a:pathLst>
              <a:path h="1260847" w="1500024">
                <a:moveTo>
                  <a:pt x="0" y="0"/>
                </a:moveTo>
                <a:lnTo>
                  <a:pt x="1500024" y="0"/>
                </a:lnTo>
                <a:lnTo>
                  <a:pt x="1500024" y="1260847"/>
                </a:lnTo>
                <a:lnTo>
                  <a:pt x="0" y="12608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09248" y="7598890"/>
            <a:ext cx="5803200" cy="1928710"/>
          </a:xfrm>
          <a:custGeom>
            <a:avLst/>
            <a:gdLst/>
            <a:ahLst/>
            <a:cxnLst/>
            <a:rect r="r" b="b" t="t" l="l"/>
            <a:pathLst>
              <a:path h="1928710" w="5803200">
                <a:moveTo>
                  <a:pt x="0" y="0"/>
                </a:moveTo>
                <a:lnTo>
                  <a:pt x="5803200" y="0"/>
                </a:lnTo>
                <a:lnTo>
                  <a:pt x="5803200" y="1928710"/>
                </a:lnTo>
                <a:lnTo>
                  <a:pt x="0" y="19287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80517" y="373240"/>
            <a:ext cx="11354335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9"/>
              </a:lnSpc>
            </a:pPr>
            <a:r>
              <a:rPr lang="en-US" b="true" sz="6199">
                <a:solidFill>
                  <a:srgbClr val="553868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8026" y="9026128"/>
            <a:ext cx="1500024" cy="1260847"/>
          </a:xfrm>
          <a:custGeom>
            <a:avLst/>
            <a:gdLst/>
            <a:ahLst/>
            <a:cxnLst/>
            <a:rect r="r" b="b" t="t" l="l"/>
            <a:pathLst>
              <a:path h="1260847" w="1500024">
                <a:moveTo>
                  <a:pt x="0" y="0"/>
                </a:moveTo>
                <a:lnTo>
                  <a:pt x="1500024" y="0"/>
                </a:lnTo>
                <a:lnTo>
                  <a:pt x="1500024" y="1260847"/>
                </a:lnTo>
                <a:lnTo>
                  <a:pt x="0" y="12608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82500" y="2868050"/>
            <a:ext cx="5655600" cy="5655600"/>
            <a:chOff x="0" y="0"/>
            <a:chExt cx="7540800" cy="7540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40752" cy="7540752"/>
            </a:xfrm>
            <a:custGeom>
              <a:avLst/>
              <a:gdLst/>
              <a:ahLst/>
              <a:cxnLst/>
              <a:rect r="r" b="b" t="t" l="l"/>
              <a:pathLst>
                <a:path h="7540752" w="7540752">
                  <a:moveTo>
                    <a:pt x="0" y="3770376"/>
                  </a:moveTo>
                  <a:cubicBezTo>
                    <a:pt x="0" y="1688084"/>
                    <a:pt x="1688084" y="0"/>
                    <a:pt x="3770376" y="0"/>
                  </a:cubicBezTo>
                  <a:cubicBezTo>
                    <a:pt x="5852668" y="0"/>
                    <a:pt x="7540752" y="1688084"/>
                    <a:pt x="7540752" y="3770376"/>
                  </a:cubicBezTo>
                  <a:cubicBezTo>
                    <a:pt x="7540752" y="5852668"/>
                    <a:pt x="5852795" y="7540752"/>
                    <a:pt x="3770376" y="7540752"/>
                  </a:cubicBezTo>
                  <a:cubicBezTo>
                    <a:pt x="1687957" y="7540752"/>
                    <a:pt x="0" y="5852795"/>
                    <a:pt x="0" y="3770376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553812" y="6182958"/>
            <a:ext cx="12765874" cy="3247098"/>
          </a:xfrm>
          <a:custGeom>
            <a:avLst/>
            <a:gdLst/>
            <a:ahLst/>
            <a:cxnLst/>
            <a:rect r="r" b="b" t="t" l="l"/>
            <a:pathLst>
              <a:path h="3247098" w="12765874">
                <a:moveTo>
                  <a:pt x="0" y="0"/>
                </a:moveTo>
                <a:lnTo>
                  <a:pt x="12765874" y="0"/>
                </a:lnTo>
                <a:lnTo>
                  <a:pt x="12765874" y="3247098"/>
                </a:lnTo>
                <a:lnTo>
                  <a:pt x="0" y="3247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30837" y="1928706"/>
            <a:ext cx="4556967" cy="7089073"/>
          </a:xfrm>
          <a:custGeom>
            <a:avLst/>
            <a:gdLst/>
            <a:ahLst/>
            <a:cxnLst/>
            <a:rect r="r" b="b" t="t" l="l"/>
            <a:pathLst>
              <a:path h="7089073" w="4556967">
                <a:moveTo>
                  <a:pt x="0" y="0"/>
                </a:moveTo>
                <a:lnTo>
                  <a:pt x="4556966" y="0"/>
                </a:lnTo>
                <a:lnTo>
                  <a:pt x="4556966" y="7089074"/>
                </a:lnTo>
                <a:lnTo>
                  <a:pt x="0" y="70890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496200" y="1335996"/>
            <a:ext cx="2499000" cy="794400"/>
            <a:chOff x="0" y="0"/>
            <a:chExt cx="3332000" cy="105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32099" cy="1705102"/>
            </a:xfrm>
            <a:custGeom>
              <a:avLst/>
              <a:gdLst/>
              <a:ahLst/>
              <a:cxnLst/>
              <a:rect r="r" b="b" t="t" l="l"/>
              <a:pathLst>
                <a:path h="1705102" w="3332099">
                  <a:moveTo>
                    <a:pt x="3331972" y="0"/>
                  </a:moveTo>
                  <a:lnTo>
                    <a:pt x="2776728" y="0"/>
                  </a:lnTo>
                  <a:lnTo>
                    <a:pt x="1943608" y="0"/>
                  </a:lnTo>
                  <a:lnTo>
                    <a:pt x="0" y="0"/>
                  </a:lnTo>
                  <a:lnTo>
                    <a:pt x="0" y="617855"/>
                  </a:lnTo>
                  <a:lnTo>
                    <a:pt x="0" y="882650"/>
                  </a:lnTo>
                  <a:lnTo>
                    <a:pt x="0" y="1059180"/>
                  </a:lnTo>
                  <a:lnTo>
                    <a:pt x="1943608" y="1059180"/>
                  </a:lnTo>
                  <a:lnTo>
                    <a:pt x="2052320" y="1705102"/>
                  </a:lnTo>
                  <a:lnTo>
                    <a:pt x="2776728" y="1059180"/>
                  </a:lnTo>
                  <a:lnTo>
                    <a:pt x="3332099" y="1059180"/>
                  </a:lnTo>
                  <a:lnTo>
                    <a:pt x="3332099" y="882650"/>
                  </a:lnTo>
                  <a:lnTo>
                    <a:pt x="3332099" y="617855"/>
                  </a:ln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332000" cy="1087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REPORT!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54167" y="542925"/>
            <a:ext cx="10152295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4891" y="3212851"/>
            <a:ext cx="8505072" cy="544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36" indent="-403012" lvl="2">
              <a:lnSpc>
                <a:spcPts val="3359"/>
              </a:lnSpc>
              <a:buFont typeface="Arial"/>
              <a:buChar char="⚬"/>
            </a:pPr>
            <a:r>
              <a:rPr lang="en-US" sz="27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7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oad accidents cause inj</a:t>
            </a:r>
            <a:r>
              <a:rPr lang="en-US" sz="27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uries, deaths, and economic losses.</a:t>
            </a:r>
          </a:p>
          <a:p>
            <a:pPr algn="l">
              <a:lnSpc>
                <a:spcPts val="3359"/>
              </a:lnSpc>
            </a:pPr>
          </a:p>
          <a:p>
            <a:pPr algn="l" marL="1209036" indent="-403012" lvl="2">
              <a:lnSpc>
                <a:spcPts val="3359"/>
              </a:lnSpc>
              <a:buFont typeface="Arial"/>
              <a:buChar char="⚬"/>
            </a:pPr>
            <a:r>
              <a:rPr lang="en-US" sz="27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Authorities often rely on historical reports rather than predictive analytics.</a:t>
            </a:r>
          </a:p>
          <a:p>
            <a:pPr algn="l">
              <a:lnSpc>
                <a:spcPts val="3359"/>
              </a:lnSpc>
            </a:pPr>
          </a:p>
          <a:p>
            <a:pPr algn="l" marL="1209036" indent="-403012" lvl="2">
              <a:lnSpc>
                <a:spcPts val="3359"/>
              </a:lnSpc>
              <a:buFont typeface="Arial"/>
              <a:buChar char="⚬"/>
            </a:pPr>
            <a:r>
              <a:rPr lang="en-US" sz="27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Limited understanding of accident patterns hinders proactive prevention measures.</a:t>
            </a:r>
          </a:p>
          <a:p>
            <a:pPr algn="l">
              <a:lnSpc>
                <a:spcPts val="3359"/>
              </a:lnSpc>
            </a:pPr>
          </a:p>
          <a:p>
            <a:pPr algn="l" marL="1209036" indent="-403012" lvl="2">
              <a:lnSpc>
                <a:spcPts val="3359"/>
              </a:lnSpc>
              <a:buFont typeface="Arial"/>
              <a:buChar char="⚬"/>
            </a:pPr>
            <a:r>
              <a:rPr lang="en-US" sz="27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There is a need for a system that transforms raw accident data into actionable insights to improve road safety and reduce accident risks.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573371">
            <a:off x="10783036" y="2782370"/>
            <a:ext cx="3026280" cy="5244868"/>
          </a:xfrm>
          <a:custGeom>
            <a:avLst/>
            <a:gdLst/>
            <a:ahLst/>
            <a:cxnLst/>
            <a:rect r="r" b="b" t="t" l="l"/>
            <a:pathLst>
              <a:path h="5244868" w="3026280">
                <a:moveTo>
                  <a:pt x="0" y="0"/>
                </a:moveTo>
                <a:lnTo>
                  <a:pt x="3026280" y="0"/>
                </a:lnTo>
                <a:lnTo>
                  <a:pt x="3026280" y="5244868"/>
                </a:lnTo>
                <a:lnTo>
                  <a:pt x="0" y="52448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49674" y="7991376"/>
            <a:ext cx="6118200" cy="6118200"/>
            <a:chOff x="0" y="0"/>
            <a:chExt cx="8157600" cy="815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7591" cy="8157591"/>
            </a:xfrm>
            <a:custGeom>
              <a:avLst/>
              <a:gdLst/>
              <a:ahLst/>
              <a:cxnLst/>
              <a:rect r="r" b="b" t="t" l="l"/>
              <a:pathLst>
                <a:path h="8157591" w="8157591">
                  <a:moveTo>
                    <a:pt x="0" y="4078859"/>
                  </a:moveTo>
                  <a:cubicBezTo>
                    <a:pt x="0" y="1826133"/>
                    <a:pt x="1826133" y="0"/>
                    <a:pt x="4078859" y="0"/>
                  </a:cubicBezTo>
                  <a:cubicBezTo>
                    <a:pt x="6331586" y="0"/>
                    <a:pt x="8157591" y="1826133"/>
                    <a:pt x="8157591" y="4078859"/>
                  </a:cubicBezTo>
                  <a:cubicBezTo>
                    <a:pt x="8157591" y="6331586"/>
                    <a:pt x="6331458" y="8157591"/>
                    <a:pt x="4078859" y="8157591"/>
                  </a:cubicBezTo>
                  <a:cubicBezTo>
                    <a:pt x="1826260" y="8157591"/>
                    <a:pt x="0" y="6331458"/>
                    <a:pt x="0" y="4078859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5087309" y="207117"/>
            <a:ext cx="6675322" cy="2206456"/>
          </a:xfrm>
          <a:custGeom>
            <a:avLst/>
            <a:gdLst/>
            <a:ahLst/>
            <a:cxnLst/>
            <a:rect r="r" b="b" t="t" l="l"/>
            <a:pathLst>
              <a:path h="2206456" w="6675322">
                <a:moveTo>
                  <a:pt x="0" y="0"/>
                </a:moveTo>
                <a:lnTo>
                  <a:pt x="6675322" y="0"/>
                </a:lnTo>
                <a:lnTo>
                  <a:pt x="6675322" y="2206456"/>
                </a:lnTo>
                <a:lnTo>
                  <a:pt x="0" y="220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3592" y="9026180"/>
            <a:ext cx="1423166" cy="1260826"/>
          </a:xfrm>
          <a:custGeom>
            <a:avLst/>
            <a:gdLst/>
            <a:ahLst/>
            <a:cxnLst/>
            <a:rect r="r" b="b" t="t" l="l"/>
            <a:pathLst>
              <a:path h="1260826" w="1423166">
                <a:moveTo>
                  <a:pt x="0" y="0"/>
                </a:moveTo>
                <a:lnTo>
                  <a:pt x="1423166" y="0"/>
                </a:lnTo>
                <a:lnTo>
                  <a:pt x="1423166" y="1260826"/>
                </a:lnTo>
                <a:lnTo>
                  <a:pt x="0" y="12608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68526" y="2220289"/>
            <a:ext cx="13783739" cy="6514970"/>
          </a:xfrm>
          <a:custGeom>
            <a:avLst/>
            <a:gdLst/>
            <a:ahLst/>
            <a:cxnLst/>
            <a:rect r="r" b="b" t="t" l="l"/>
            <a:pathLst>
              <a:path h="6514970" w="13783739">
                <a:moveTo>
                  <a:pt x="0" y="0"/>
                </a:moveTo>
                <a:lnTo>
                  <a:pt x="13783739" y="0"/>
                </a:lnTo>
                <a:lnTo>
                  <a:pt x="13783739" y="6514970"/>
                </a:lnTo>
                <a:lnTo>
                  <a:pt x="0" y="6514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93325" y="771925"/>
            <a:ext cx="1530135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897FBB"/>
                </a:solidFill>
                <a:latin typeface="Arimo"/>
                <a:ea typeface="Arimo"/>
                <a:cs typeface="Arimo"/>
                <a:sym typeface="Arimo"/>
              </a:rPr>
              <a:t>System Overview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61448" y="8717352"/>
            <a:ext cx="1700134" cy="1567790"/>
          </a:xfrm>
          <a:custGeom>
            <a:avLst/>
            <a:gdLst/>
            <a:ahLst/>
            <a:cxnLst/>
            <a:rect r="r" b="b" t="t" l="l"/>
            <a:pathLst>
              <a:path h="1567790" w="1700134">
                <a:moveTo>
                  <a:pt x="0" y="0"/>
                </a:moveTo>
                <a:lnTo>
                  <a:pt x="1700134" y="0"/>
                </a:lnTo>
                <a:lnTo>
                  <a:pt x="1700134" y="1567790"/>
                </a:lnTo>
                <a:lnTo>
                  <a:pt x="0" y="1567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58019" y="2611347"/>
            <a:ext cx="6427200" cy="6427200"/>
            <a:chOff x="0" y="0"/>
            <a:chExt cx="8569600" cy="856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69579" cy="8569579"/>
            </a:xfrm>
            <a:custGeom>
              <a:avLst/>
              <a:gdLst/>
              <a:ahLst/>
              <a:cxnLst/>
              <a:rect r="r" b="b" t="t" l="l"/>
              <a:pathLst>
                <a:path h="8569579" w="8569579">
                  <a:moveTo>
                    <a:pt x="0" y="4284853"/>
                  </a:moveTo>
                  <a:cubicBezTo>
                    <a:pt x="0" y="1918335"/>
                    <a:pt x="1918335" y="0"/>
                    <a:pt x="4284853" y="0"/>
                  </a:cubicBezTo>
                  <a:cubicBezTo>
                    <a:pt x="6651372" y="0"/>
                    <a:pt x="8569579" y="1918335"/>
                    <a:pt x="8569579" y="4284853"/>
                  </a:cubicBezTo>
                  <a:cubicBezTo>
                    <a:pt x="8569579" y="6651372"/>
                    <a:pt x="6651244" y="8569579"/>
                    <a:pt x="4284853" y="8569579"/>
                  </a:cubicBezTo>
                  <a:cubicBezTo>
                    <a:pt x="1918463" y="8569579"/>
                    <a:pt x="0" y="6651244"/>
                    <a:pt x="0" y="4284853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571917" y="708778"/>
            <a:ext cx="6795150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19"/>
              </a:lnSpc>
            </a:pPr>
            <a:r>
              <a:rPr lang="en-US" sz="10599">
                <a:solidFill>
                  <a:srgbClr val="897FBB"/>
                </a:solidFill>
                <a:latin typeface="Arimo"/>
                <a:ea typeface="Arimo"/>
                <a:cs typeface="Arimo"/>
                <a:sym typeface="Arimo"/>
              </a:rPr>
              <a:t>Data Used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3677059"/>
            <a:ext cx="8812623" cy="426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8"/>
              </a:lnSpc>
            </a:pPr>
            <a:r>
              <a:rPr lang="en-US" sz="309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The analysis is based on the US Accidents Dataset from Kaggle, which contains more than 7 millions of accident records across the United States. The dataset includes information on location, weather conditions, road infrastructure, and accident severity, enabling pattern analysis and predictive modeling.</a:t>
            </a:r>
          </a:p>
          <a:p>
            <a:pPr algn="l">
              <a:lnSpc>
                <a:spcPts val="2556"/>
              </a:lnSpc>
            </a:pPr>
          </a:p>
          <a:p>
            <a:pPr algn="l">
              <a:lnSpc>
                <a:spcPts val="2556"/>
              </a:lnSpc>
            </a:pPr>
          </a:p>
          <a:p>
            <a:pPr algn="l">
              <a:lnSpc>
                <a:spcPts val="255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70568" y="4782362"/>
            <a:ext cx="4702008" cy="8851312"/>
          </a:xfrm>
          <a:custGeom>
            <a:avLst/>
            <a:gdLst/>
            <a:ahLst/>
            <a:cxnLst/>
            <a:rect r="r" b="b" t="t" l="l"/>
            <a:pathLst>
              <a:path h="8851312" w="4702008">
                <a:moveTo>
                  <a:pt x="0" y="0"/>
                </a:moveTo>
                <a:lnTo>
                  <a:pt x="4702008" y="0"/>
                </a:lnTo>
                <a:lnTo>
                  <a:pt x="4702008" y="8851312"/>
                </a:lnTo>
                <a:lnTo>
                  <a:pt x="0" y="88513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09072" y="1760351"/>
            <a:ext cx="4880223" cy="7212057"/>
          </a:xfrm>
          <a:custGeom>
            <a:avLst/>
            <a:gdLst/>
            <a:ahLst/>
            <a:cxnLst/>
            <a:rect r="r" b="b" t="t" l="l"/>
            <a:pathLst>
              <a:path h="7212057" w="4880223">
                <a:moveTo>
                  <a:pt x="0" y="0"/>
                </a:moveTo>
                <a:lnTo>
                  <a:pt x="4880222" y="0"/>
                </a:lnTo>
                <a:lnTo>
                  <a:pt x="4880222" y="7212058"/>
                </a:lnTo>
                <a:lnTo>
                  <a:pt x="0" y="72120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160550" y="965950"/>
            <a:ext cx="3119400" cy="794400"/>
            <a:chOff x="0" y="0"/>
            <a:chExt cx="4159200" cy="105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59250" cy="1705102"/>
            </a:xfrm>
            <a:custGeom>
              <a:avLst/>
              <a:gdLst/>
              <a:ahLst/>
              <a:cxnLst/>
              <a:rect r="r" b="b" t="t" l="l"/>
              <a:pathLst>
                <a:path h="1705102" w="4159250">
                  <a:moveTo>
                    <a:pt x="0" y="0"/>
                  </a:moveTo>
                  <a:lnTo>
                    <a:pt x="693166" y="0"/>
                  </a:lnTo>
                  <a:lnTo>
                    <a:pt x="1732915" y="0"/>
                  </a:lnTo>
                  <a:lnTo>
                    <a:pt x="4159250" y="0"/>
                  </a:lnTo>
                  <a:lnTo>
                    <a:pt x="4159250" y="617855"/>
                  </a:lnTo>
                  <a:lnTo>
                    <a:pt x="4159250" y="882650"/>
                  </a:lnTo>
                  <a:lnTo>
                    <a:pt x="4159250" y="1059180"/>
                  </a:lnTo>
                  <a:lnTo>
                    <a:pt x="1733042" y="1059180"/>
                  </a:lnTo>
                  <a:lnTo>
                    <a:pt x="1597279" y="1705102"/>
                  </a:lnTo>
                  <a:lnTo>
                    <a:pt x="693166" y="1059180"/>
                  </a:lnTo>
                  <a:lnTo>
                    <a:pt x="0" y="1059180"/>
                  </a:lnTo>
                  <a:lnTo>
                    <a:pt x="0" y="882650"/>
                  </a:lnTo>
                  <a:lnTo>
                    <a:pt x="0" y="617855"/>
                  </a:lnTo>
                  <a:close/>
                </a:path>
              </a:pathLst>
            </a:custGeom>
            <a:solidFill>
              <a:srgbClr val="FF99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159200" cy="1087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ACCIDENT!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754210">
            <a:off x="3600360" y="2635926"/>
            <a:ext cx="3064298" cy="5310952"/>
          </a:xfrm>
          <a:custGeom>
            <a:avLst/>
            <a:gdLst/>
            <a:ahLst/>
            <a:cxnLst/>
            <a:rect r="r" b="b" t="t" l="l"/>
            <a:pathLst>
              <a:path h="5310952" w="3064298">
                <a:moveTo>
                  <a:pt x="0" y="0"/>
                </a:moveTo>
                <a:lnTo>
                  <a:pt x="3064298" y="0"/>
                </a:lnTo>
                <a:lnTo>
                  <a:pt x="3064298" y="5310952"/>
                </a:lnTo>
                <a:lnTo>
                  <a:pt x="0" y="53109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29" r="-2" b="-3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7102" y="7066600"/>
            <a:ext cx="5979000" cy="5979000"/>
            <a:chOff x="0" y="0"/>
            <a:chExt cx="7972000" cy="797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72044" cy="7972044"/>
            </a:xfrm>
            <a:custGeom>
              <a:avLst/>
              <a:gdLst/>
              <a:ahLst/>
              <a:cxnLst/>
              <a:rect r="r" b="b" t="t" l="l"/>
              <a:pathLst>
                <a:path h="7972044" w="7972044">
                  <a:moveTo>
                    <a:pt x="0" y="3986022"/>
                  </a:moveTo>
                  <a:cubicBezTo>
                    <a:pt x="0" y="1784604"/>
                    <a:pt x="1784604" y="0"/>
                    <a:pt x="3986022" y="0"/>
                  </a:cubicBezTo>
                  <a:cubicBezTo>
                    <a:pt x="6187440" y="0"/>
                    <a:pt x="7972044" y="1784604"/>
                    <a:pt x="7972044" y="3986022"/>
                  </a:cubicBezTo>
                  <a:cubicBezTo>
                    <a:pt x="7972044" y="6187440"/>
                    <a:pt x="6187440" y="7972044"/>
                    <a:pt x="3986022" y="7972044"/>
                  </a:cubicBezTo>
                  <a:cubicBezTo>
                    <a:pt x="1784603" y="7972044"/>
                    <a:pt x="0" y="6187440"/>
                    <a:pt x="0" y="3986022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299400" y="-7616430"/>
            <a:ext cx="3247098" cy="12765874"/>
          </a:xfrm>
          <a:custGeom>
            <a:avLst/>
            <a:gdLst/>
            <a:ahLst/>
            <a:cxnLst/>
            <a:rect r="r" b="b" t="t" l="l"/>
            <a:pathLst>
              <a:path h="12765874" w="3247098">
                <a:moveTo>
                  <a:pt x="0" y="0"/>
                </a:moveTo>
                <a:lnTo>
                  <a:pt x="3247098" y="0"/>
                </a:lnTo>
                <a:lnTo>
                  <a:pt x="3247098" y="12765874"/>
                </a:lnTo>
                <a:lnTo>
                  <a:pt x="0" y="127658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4986" y="9026274"/>
            <a:ext cx="1028498" cy="1261031"/>
          </a:xfrm>
          <a:custGeom>
            <a:avLst/>
            <a:gdLst/>
            <a:ahLst/>
            <a:cxnLst/>
            <a:rect r="r" b="b" t="t" l="l"/>
            <a:pathLst>
              <a:path h="1261031" w="1028498">
                <a:moveTo>
                  <a:pt x="0" y="0"/>
                </a:moveTo>
                <a:lnTo>
                  <a:pt x="1028498" y="0"/>
                </a:lnTo>
                <a:lnTo>
                  <a:pt x="1028498" y="1261031"/>
                </a:lnTo>
                <a:lnTo>
                  <a:pt x="0" y="12610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30038" y="7527718"/>
            <a:ext cx="2370256" cy="2255210"/>
          </a:xfrm>
          <a:custGeom>
            <a:avLst/>
            <a:gdLst/>
            <a:ahLst/>
            <a:cxnLst/>
            <a:rect r="r" b="b" t="t" l="l"/>
            <a:pathLst>
              <a:path h="2255210" w="2370256">
                <a:moveTo>
                  <a:pt x="0" y="0"/>
                </a:moveTo>
                <a:lnTo>
                  <a:pt x="2370256" y="0"/>
                </a:lnTo>
                <a:lnTo>
                  <a:pt x="2370256" y="2255210"/>
                </a:lnTo>
                <a:lnTo>
                  <a:pt x="0" y="22552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31425" y="674635"/>
            <a:ext cx="1332000" cy="1332000"/>
            <a:chOff x="0" y="0"/>
            <a:chExt cx="1776000" cy="177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800" y="50800"/>
              <a:ext cx="1674368" cy="1674368"/>
            </a:xfrm>
            <a:custGeom>
              <a:avLst/>
              <a:gdLst/>
              <a:ahLst/>
              <a:cxnLst/>
              <a:rect r="r" b="b" t="t" l="l"/>
              <a:pathLst>
                <a:path h="1674368" w="1674368">
                  <a:moveTo>
                    <a:pt x="0" y="0"/>
                  </a:moveTo>
                  <a:lnTo>
                    <a:pt x="1674368" y="0"/>
                  </a:lnTo>
                  <a:lnTo>
                    <a:pt x="1674368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75968" cy="1775968"/>
            </a:xfrm>
            <a:custGeom>
              <a:avLst/>
              <a:gdLst/>
              <a:ahLst/>
              <a:cxnLst/>
              <a:rect r="r" b="b" t="t" l="l"/>
              <a:pathLst>
                <a:path h="1775968" w="1775968">
                  <a:moveTo>
                    <a:pt x="50800" y="0"/>
                  </a:moveTo>
                  <a:lnTo>
                    <a:pt x="1725168" y="0"/>
                  </a:lnTo>
                  <a:cubicBezTo>
                    <a:pt x="1753235" y="0"/>
                    <a:pt x="1775968" y="22733"/>
                    <a:pt x="1775968" y="50800"/>
                  </a:cubicBezTo>
                  <a:lnTo>
                    <a:pt x="1775968" y="1725168"/>
                  </a:lnTo>
                  <a:cubicBezTo>
                    <a:pt x="1775968" y="1753235"/>
                    <a:pt x="1753235" y="1775968"/>
                    <a:pt x="1725168" y="1775968"/>
                  </a:cubicBezTo>
                  <a:lnTo>
                    <a:pt x="50800" y="1775968"/>
                  </a:lnTo>
                  <a:cubicBezTo>
                    <a:pt x="22733" y="1775968"/>
                    <a:pt x="0" y="1753235"/>
                    <a:pt x="0" y="1725168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moveTo>
                    <a:pt x="50800" y="101600"/>
                  </a:moveTo>
                  <a:lnTo>
                    <a:pt x="50800" y="50800"/>
                  </a:lnTo>
                  <a:lnTo>
                    <a:pt x="101600" y="50800"/>
                  </a:lnTo>
                  <a:lnTo>
                    <a:pt x="101600" y="1725168"/>
                  </a:lnTo>
                  <a:lnTo>
                    <a:pt x="50800" y="1725168"/>
                  </a:lnTo>
                  <a:lnTo>
                    <a:pt x="50800" y="1674368"/>
                  </a:lnTo>
                  <a:lnTo>
                    <a:pt x="1725168" y="1674368"/>
                  </a:lnTo>
                  <a:lnTo>
                    <a:pt x="1725168" y="1725168"/>
                  </a:lnTo>
                  <a:lnTo>
                    <a:pt x="1674368" y="1725168"/>
                  </a:lnTo>
                  <a:lnTo>
                    <a:pt x="1674368" y="50800"/>
                  </a:lnTo>
                  <a:lnTo>
                    <a:pt x="1725168" y="50800"/>
                  </a:lnTo>
                  <a:lnTo>
                    <a:pt x="1725168" y="101600"/>
                  </a:lnTo>
                  <a:lnTo>
                    <a:pt x="50800" y="101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31425" y="188860"/>
            <a:ext cx="15225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Feature Used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42348" y="1006905"/>
            <a:ext cx="910154" cy="861500"/>
          </a:xfrm>
          <a:custGeom>
            <a:avLst/>
            <a:gdLst/>
            <a:ahLst/>
            <a:cxnLst/>
            <a:rect r="r" b="b" t="t" l="l"/>
            <a:pathLst>
              <a:path h="861500" w="910154">
                <a:moveTo>
                  <a:pt x="0" y="0"/>
                </a:moveTo>
                <a:lnTo>
                  <a:pt x="910154" y="0"/>
                </a:lnTo>
                <a:lnTo>
                  <a:pt x="910154" y="861500"/>
                </a:lnTo>
                <a:lnTo>
                  <a:pt x="0" y="861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030038" y="829075"/>
            <a:ext cx="1332000" cy="1332000"/>
            <a:chOff x="0" y="0"/>
            <a:chExt cx="1776000" cy="177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800" y="50800"/>
              <a:ext cx="1674368" cy="1674368"/>
            </a:xfrm>
            <a:custGeom>
              <a:avLst/>
              <a:gdLst/>
              <a:ahLst/>
              <a:cxnLst/>
              <a:rect r="r" b="b" t="t" l="l"/>
              <a:pathLst>
                <a:path h="1674368" w="1674368">
                  <a:moveTo>
                    <a:pt x="0" y="0"/>
                  </a:moveTo>
                  <a:lnTo>
                    <a:pt x="1674368" y="0"/>
                  </a:lnTo>
                  <a:lnTo>
                    <a:pt x="1674368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75968" cy="1775968"/>
            </a:xfrm>
            <a:custGeom>
              <a:avLst/>
              <a:gdLst/>
              <a:ahLst/>
              <a:cxnLst/>
              <a:rect r="r" b="b" t="t" l="l"/>
              <a:pathLst>
                <a:path h="1775968" w="1775968">
                  <a:moveTo>
                    <a:pt x="50800" y="0"/>
                  </a:moveTo>
                  <a:lnTo>
                    <a:pt x="1725168" y="0"/>
                  </a:lnTo>
                  <a:cubicBezTo>
                    <a:pt x="1753235" y="0"/>
                    <a:pt x="1775968" y="22733"/>
                    <a:pt x="1775968" y="50800"/>
                  </a:cubicBezTo>
                  <a:lnTo>
                    <a:pt x="1775968" y="1725168"/>
                  </a:lnTo>
                  <a:cubicBezTo>
                    <a:pt x="1775968" y="1753235"/>
                    <a:pt x="1753235" y="1775968"/>
                    <a:pt x="1725168" y="1775968"/>
                  </a:cubicBezTo>
                  <a:lnTo>
                    <a:pt x="50800" y="1775968"/>
                  </a:lnTo>
                  <a:cubicBezTo>
                    <a:pt x="22733" y="1775968"/>
                    <a:pt x="0" y="1753235"/>
                    <a:pt x="0" y="1725168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moveTo>
                    <a:pt x="50800" y="101600"/>
                  </a:moveTo>
                  <a:lnTo>
                    <a:pt x="50800" y="50800"/>
                  </a:lnTo>
                  <a:lnTo>
                    <a:pt x="101600" y="50800"/>
                  </a:lnTo>
                  <a:lnTo>
                    <a:pt x="101600" y="1725168"/>
                  </a:lnTo>
                  <a:lnTo>
                    <a:pt x="50800" y="1725168"/>
                  </a:lnTo>
                  <a:lnTo>
                    <a:pt x="50800" y="1674368"/>
                  </a:lnTo>
                  <a:lnTo>
                    <a:pt x="1725168" y="1674368"/>
                  </a:lnTo>
                  <a:lnTo>
                    <a:pt x="1725168" y="1725168"/>
                  </a:lnTo>
                  <a:lnTo>
                    <a:pt x="1674368" y="1725168"/>
                  </a:lnTo>
                  <a:lnTo>
                    <a:pt x="1674368" y="50800"/>
                  </a:lnTo>
                  <a:lnTo>
                    <a:pt x="1725168" y="50800"/>
                  </a:lnTo>
                  <a:lnTo>
                    <a:pt x="1725168" y="101600"/>
                  </a:lnTo>
                  <a:lnTo>
                    <a:pt x="50800" y="101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5208021" y="1131835"/>
            <a:ext cx="976034" cy="611640"/>
          </a:xfrm>
          <a:custGeom>
            <a:avLst/>
            <a:gdLst/>
            <a:ahLst/>
            <a:cxnLst/>
            <a:rect r="r" b="b" t="t" l="l"/>
            <a:pathLst>
              <a:path h="611640" w="976034">
                <a:moveTo>
                  <a:pt x="0" y="0"/>
                </a:moveTo>
                <a:lnTo>
                  <a:pt x="976034" y="0"/>
                </a:lnTo>
                <a:lnTo>
                  <a:pt x="976034" y="611640"/>
                </a:lnTo>
                <a:lnTo>
                  <a:pt x="0" y="6116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1264986" y="2161075"/>
          <a:ext cx="16342655" cy="6362987"/>
        </p:xfrm>
        <a:graphic>
          <a:graphicData uri="http://schemas.openxmlformats.org/drawingml/2006/table">
            <a:tbl>
              <a:tblPr/>
              <a:tblGrid>
                <a:gridCol w="4652177"/>
                <a:gridCol w="11690478"/>
              </a:tblGrid>
              <a:tr h="6772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b="true" sz="2600">
                          <a:solidFill>
                            <a:srgbClr val="55386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Feature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b="true" sz="2600">
                          <a:solidFill>
                            <a:srgbClr val="55386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61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b="true" sz="2600">
                          <a:solidFill>
                            <a:srgbClr val="55386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Start_Lat / Start_Lng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55386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Geographic coordinates indicating the exact location of the accident.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51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b="true" sz="2600">
                          <a:solidFill>
                            <a:srgbClr val="55386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Severity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55386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The severity level of the accident, typically categorized into multiple levels.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2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b="true" sz="2600">
                          <a:solidFill>
                            <a:srgbClr val="55386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Weather_Condition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55386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Weather conditions at the time of the accident (e.g., rain, fog, clear).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2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b="true" sz="2600">
                          <a:solidFill>
                            <a:srgbClr val="55386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Visibility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55386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The visibility distance at the accident location.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2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b="true" sz="2600">
                          <a:solidFill>
                            <a:srgbClr val="55386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Temperature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55386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Temperature recorded at the time of the accident.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2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b="true" sz="2600">
                          <a:solidFill>
                            <a:srgbClr val="55386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Traffic_Signal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55386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Indicates the presence of traffic signals near the accident location.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51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b="true" sz="2600">
                          <a:solidFill>
                            <a:srgbClr val="55386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Road Conditions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55386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Information about road characteristics and environmental </a:t>
                      </a:r>
                      <a:endParaRPr lang="en-US" sz="1100"/>
                    </a:p>
                    <a:p>
                      <a:pPr algn="l">
                        <a:lnSpc>
                          <a:spcPts val="3640"/>
                        </a:lnSpc>
                      </a:pPr>
                      <a:r>
                        <a:rPr lang="en-US" sz="2600">
                          <a:solidFill>
                            <a:srgbClr val="55386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factors that may influence accident occurrence.</a:t>
                      </a:r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7" id="17"/>
          <p:cNvSpPr/>
          <p:nvPr/>
        </p:nvSpPr>
        <p:spPr>
          <a:xfrm flipH="false" flipV="false" rot="0">
            <a:off x="-6827079" y="7939573"/>
            <a:ext cx="27696156" cy="3434432"/>
          </a:xfrm>
          <a:custGeom>
            <a:avLst/>
            <a:gdLst/>
            <a:ahLst/>
            <a:cxnLst/>
            <a:rect r="r" b="b" t="t" l="l"/>
            <a:pathLst>
              <a:path h="3434432" w="27696156">
                <a:moveTo>
                  <a:pt x="0" y="0"/>
                </a:moveTo>
                <a:lnTo>
                  <a:pt x="27696156" y="0"/>
                </a:lnTo>
                <a:lnTo>
                  <a:pt x="27696156" y="3434432"/>
                </a:lnTo>
                <a:lnTo>
                  <a:pt x="0" y="34344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83474" y="7279326"/>
            <a:ext cx="6118200" cy="6118200"/>
            <a:chOff x="0" y="0"/>
            <a:chExt cx="8157600" cy="815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7591" cy="8157591"/>
            </a:xfrm>
            <a:custGeom>
              <a:avLst/>
              <a:gdLst/>
              <a:ahLst/>
              <a:cxnLst/>
              <a:rect r="r" b="b" t="t" l="l"/>
              <a:pathLst>
                <a:path h="8157591" w="8157591">
                  <a:moveTo>
                    <a:pt x="0" y="4078859"/>
                  </a:moveTo>
                  <a:cubicBezTo>
                    <a:pt x="0" y="1826133"/>
                    <a:pt x="1826133" y="0"/>
                    <a:pt x="4078859" y="0"/>
                  </a:cubicBezTo>
                  <a:cubicBezTo>
                    <a:pt x="6331586" y="0"/>
                    <a:pt x="8157591" y="1826133"/>
                    <a:pt x="8157591" y="4078859"/>
                  </a:cubicBezTo>
                  <a:cubicBezTo>
                    <a:pt x="8157591" y="6331586"/>
                    <a:pt x="6331458" y="8157591"/>
                    <a:pt x="4078859" y="8157591"/>
                  </a:cubicBezTo>
                  <a:cubicBezTo>
                    <a:pt x="1826260" y="8157591"/>
                    <a:pt x="0" y="6331458"/>
                    <a:pt x="0" y="4078859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25600" y="8578600"/>
            <a:ext cx="3605000" cy="4158500"/>
          </a:xfrm>
          <a:custGeom>
            <a:avLst/>
            <a:gdLst/>
            <a:ahLst/>
            <a:cxnLst/>
            <a:rect r="r" b="b" t="t" l="l"/>
            <a:pathLst>
              <a:path h="4158500" w="3605000">
                <a:moveTo>
                  <a:pt x="0" y="0"/>
                </a:moveTo>
                <a:lnTo>
                  <a:pt x="3605000" y="0"/>
                </a:lnTo>
                <a:lnTo>
                  <a:pt x="3605000" y="4158500"/>
                </a:lnTo>
                <a:lnTo>
                  <a:pt x="0" y="4158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99400" y="-7616430"/>
            <a:ext cx="3247098" cy="12765874"/>
          </a:xfrm>
          <a:custGeom>
            <a:avLst/>
            <a:gdLst/>
            <a:ahLst/>
            <a:cxnLst/>
            <a:rect r="r" b="b" t="t" l="l"/>
            <a:pathLst>
              <a:path h="12765874" w="3247098">
                <a:moveTo>
                  <a:pt x="0" y="0"/>
                </a:moveTo>
                <a:lnTo>
                  <a:pt x="3247098" y="0"/>
                </a:lnTo>
                <a:lnTo>
                  <a:pt x="3247098" y="12765874"/>
                </a:lnTo>
                <a:lnTo>
                  <a:pt x="0" y="12765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36926" y="9026128"/>
            <a:ext cx="1500024" cy="1260847"/>
          </a:xfrm>
          <a:custGeom>
            <a:avLst/>
            <a:gdLst/>
            <a:ahLst/>
            <a:cxnLst/>
            <a:rect r="r" b="b" t="t" l="l"/>
            <a:pathLst>
              <a:path h="1260847" w="1500024">
                <a:moveTo>
                  <a:pt x="0" y="0"/>
                </a:moveTo>
                <a:lnTo>
                  <a:pt x="1500024" y="0"/>
                </a:lnTo>
                <a:lnTo>
                  <a:pt x="1500024" y="1260847"/>
                </a:lnTo>
                <a:lnTo>
                  <a:pt x="0" y="12608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2578" y="8004690"/>
            <a:ext cx="749314" cy="926300"/>
          </a:xfrm>
          <a:custGeom>
            <a:avLst/>
            <a:gdLst/>
            <a:ahLst/>
            <a:cxnLst/>
            <a:rect r="r" b="b" t="t" l="l"/>
            <a:pathLst>
              <a:path h="926300" w="749314">
                <a:moveTo>
                  <a:pt x="0" y="0"/>
                </a:moveTo>
                <a:lnTo>
                  <a:pt x="749314" y="0"/>
                </a:lnTo>
                <a:lnTo>
                  <a:pt x="749314" y="926300"/>
                </a:lnTo>
                <a:lnTo>
                  <a:pt x="0" y="926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31425" y="800500"/>
            <a:ext cx="15225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Data P</a:t>
            </a:r>
            <a:r>
              <a:rPr lang="en-US" sz="60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7830" y="3631098"/>
            <a:ext cx="416775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Handling Missing Values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55906" y="3631098"/>
            <a:ext cx="41677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Encodi</a:t>
            </a: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40185" y="3246989"/>
            <a:ext cx="4438163" cy="206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6"/>
              </a:lnSpc>
            </a:pPr>
            <a:r>
              <a:rPr lang="en-US" sz="3363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Check duplicates</a:t>
            </a:r>
          </a:p>
          <a:p>
            <a:pPr algn="ctr">
              <a:lnSpc>
                <a:spcPts val="4036"/>
              </a:lnSpc>
            </a:pPr>
            <a:r>
              <a:rPr lang="en-US" sz="3363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Drop un necessary columns</a:t>
            </a:r>
          </a:p>
          <a:p>
            <a:pPr algn="ctr">
              <a:lnSpc>
                <a:spcPts val="403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345458" y="5815939"/>
            <a:ext cx="41677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Standardization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7830" y="5806414"/>
            <a:ext cx="4164155" cy="130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5"/>
              </a:lnSpc>
            </a:pPr>
            <a:r>
              <a:rPr lang="en-US" sz="4196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Feature Engineering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60125" y="6000000"/>
            <a:ext cx="41677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Handling Outliers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94543" y="8661916"/>
            <a:ext cx="4842700" cy="69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1"/>
              </a:lnSpc>
            </a:pPr>
            <a:r>
              <a:rPr lang="en-US" sz="4417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Over sampling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56518" y="8273765"/>
            <a:ext cx="4603916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EDA and Extracting Insights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73176" y="8963376"/>
            <a:ext cx="6118200" cy="6118200"/>
            <a:chOff x="0" y="0"/>
            <a:chExt cx="8157600" cy="815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7591" cy="8157591"/>
            </a:xfrm>
            <a:custGeom>
              <a:avLst/>
              <a:gdLst/>
              <a:ahLst/>
              <a:cxnLst/>
              <a:rect r="r" b="b" t="t" l="l"/>
              <a:pathLst>
                <a:path h="8157591" w="8157591">
                  <a:moveTo>
                    <a:pt x="0" y="4078859"/>
                  </a:moveTo>
                  <a:cubicBezTo>
                    <a:pt x="0" y="1826133"/>
                    <a:pt x="1826133" y="0"/>
                    <a:pt x="4078859" y="0"/>
                  </a:cubicBezTo>
                  <a:cubicBezTo>
                    <a:pt x="6331586" y="0"/>
                    <a:pt x="8157591" y="1826133"/>
                    <a:pt x="8157591" y="4078859"/>
                  </a:cubicBezTo>
                  <a:cubicBezTo>
                    <a:pt x="8157591" y="6331586"/>
                    <a:pt x="6331458" y="8157591"/>
                    <a:pt x="4078859" y="8157591"/>
                  </a:cubicBezTo>
                  <a:cubicBezTo>
                    <a:pt x="1826260" y="8157591"/>
                    <a:pt x="0" y="6331458"/>
                    <a:pt x="0" y="4078859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329074" y="8406260"/>
            <a:ext cx="2206456" cy="6675322"/>
          </a:xfrm>
          <a:custGeom>
            <a:avLst/>
            <a:gdLst/>
            <a:ahLst/>
            <a:cxnLst/>
            <a:rect r="r" b="b" t="t" l="l"/>
            <a:pathLst>
              <a:path h="6675322" w="2206456">
                <a:moveTo>
                  <a:pt x="0" y="0"/>
                </a:moveTo>
                <a:lnTo>
                  <a:pt x="2206456" y="0"/>
                </a:lnTo>
                <a:lnTo>
                  <a:pt x="2206456" y="6675322"/>
                </a:lnTo>
                <a:lnTo>
                  <a:pt x="0" y="6675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044462" y="-3236134"/>
            <a:ext cx="8484442" cy="13523160"/>
          </a:xfrm>
          <a:custGeom>
            <a:avLst/>
            <a:gdLst/>
            <a:ahLst/>
            <a:cxnLst/>
            <a:rect r="r" b="b" t="t" l="l"/>
            <a:pathLst>
              <a:path h="13523160" w="8484442">
                <a:moveTo>
                  <a:pt x="0" y="0"/>
                </a:moveTo>
                <a:lnTo>
                  <a:pt x="8484442" y="0"/>
                </a:lnTo>
                <a:lnTo>
                  <a:pt x="8484442" y="13523160"/>
                </a:lnTo>
                <a:lnTo>
                  <a:pt x="0" y="135231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7628" y="7902740"/>
            <a:ext cx="749314" cy="926300"/>
          </a:xfrm>
          <a:custGeom>
            <a:avLst/>
            <a:gdLst/>
            <a:ahLst/>
            <a:cxnLst/>
            <a:rect r="r" b="b" t="t" l="l"/>
            <a:pathLst>
              <a:path h="926300" w="749314">
                <a:moveTo>
                  <a:pt x="0" y="0"/>
                </a:moveTo>
                <a:lnTo>
                  <a:pt x="749314" y="0"/>
                </a:lnTo>
                <a:lnTo>
                  <a:pt x="749314" y="926300"/>
                </a:lnTo>
                <a:lnTo>
                  <a:pt x="0" y="926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6016" y="9026180"/>
            <a:ext cx="1423166" cy="1260826"/>
          </a:xfrm>
          <a:custGeom>
            <a:avLst/>
            <a:gdLst/>
            <a:ahLst/>
            <a:cxnLst/>
            <a:rect r="r" b="b" t="t" l="l"/>
            <a:pathLst>
              <a:path h="1260826" w="1423166">
                <a:moveTo>
                  <a:pt x="0" y="0"/>
                </a:moveTo>
                <a:lnTo>
                  <a:pt x="1423166" y="0"/>
                </a:lnTo>
                <a:lnTo>
                  <a:pt x="1423166" y="1260826"/>
                </a:lnTo>
                <a:lnTo>
                  <a:pt x="0" y="12608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38517" y="5674150"/>
            <a:ext cx="54391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Neural Network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6016" y="728050"/>
            <a:ext cx="15225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Model(s) Used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38517" y="2657650"/>
            <a:ext cx="54391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XGboost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25473" y="2657650"/>
            <a:ext cx="54391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CatBoost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25473" y="5674150"/>
            <a:ext cx="54391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LightGBM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203400" y="2614000"/>
            <a:ext cx="1332000" cy="1332000"/>
            <a:chOff x="0" y="0"/>
            <a:chExt cx="1776000" cy="177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800" y="50800"/>
              <a:ext cx="1674368" cy="1674368"/>
            </a:xfrm>
            <a:custGeom>
              <a:avLst/>
              <a:gdLst/>
              <a:ahLst/>
              <a:cxnLst/>
              <a:rect r="r" b="b" t="t" l="l"/>
              <a:pathLst>
                <a:path h="1674368" w="1674368">
                  <a:moveTo>
                    <a:pt x="0" y="0"/>
                  </a:moveTo>
                  <a:lnTo>
                    <a:pt x="1674368" y="0"/>
                  </a:lnTo>
                  <a:lnTo>
                    <a:pt x="1674368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75968" cy="1775968"/>
            </a:xfrm>
            <a:custGeom>
              <a:avLst/>
              <a:gdLst/>
              <a:ahLst/>
              <a:cxnLst/>
              <a:rect r="r" b="b" t="t" l="l"/>
              <a:pathLst>
                <a:path h="1775968" w="1775968">
                  <a:moveTo>
                    <a:pt x="50800" y="0"/>
                  </a:moveTo>
                  <a:lnTo>
                    <a:pt x="1725168" y="0"/>
                  </a:lnTo>
                  <a:cubicBezTo>
                    <a:pt x="1753235" y="0"/>
                    <a:pt x="1775968" y="22733"/>
                    <a:pt x="1775968" y="50800"/>
                  </a:cubicBezTo>
                  <a:lnTo>
                    <a:pt x="1775968" y="1725168"/>
                  </a:lnTo>
                  <a:cubicBezTo>
                    <a:pt x="1775968" y="1753235"/>
                    <a:pt x="1753235" y="1775968"/>
                    <a:pt x="1725168" y="1775968"/>
                  </a:cubicBezTo>
                  <a:lnTo>
                    <a:pt x="50800" y="1775968"/>
                  </a:lnTo>
                  <a:cubicBezTo>
                    <a:pt x="22733" y="1775968"/>
                    <a:pt x="0" y="1753235"/>
                    <a:pt x="0" y="1725168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moveTo>
                    <a:pt x="50800" y="101600"/>
                  </a:moveTo>
                  <a:lnTo>
                    <a:pt x="50800" y="50800"/>
                  </a:lnTo>
                  <a:lnTo>
                    <a:pt x="101600" y="50800"/>
                  </a:lnTo>
                  <a:lnTo>
                    <a:pt x="101600" y="1725168"/>
                  </a:lnTo>
                  <a:lnTo>
                    <a:pt x="50800" y="1725168"/>
                  </a:lnTo>
                  <a:lnTo>
                    <a:pt x="50800" y="1674368"/>
                  </a:lnTo>
                  <a:lnTo>
                    <a:pt x="1725168" y="1674368"/>
                  </a:lnTo>
                  <a:lnTo>
                    <a:pt x="1725168" y="1725168"/>
                  </a:lnTo>
                  <a:lnTo>
                    <a:pt x="1674368" y="1725168"/>
                  </a:lnTo>
                  <a:lnTo>
                    <a:pt x="1674368" y="50800"/>
                  </a:lnTo>
                  <a:lnTo>
                    <a:pt x="1725168" y="50800"/>
                  </a:lnTo>
                  <a:lnTo>
                    <a:pt x="1725168" y="101600"/>
                  </a:lnTo>
                  <a:lnTo>
                    <a:pt x="50800" y="101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203400" y="5630500"/>
            <a:ext cx="1332000" cy="1332000"/>
            <a:chOff x="0" y="0"/>
            <a:chExt cx="1776000" cy="177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800" y="50800"/>
              <a:ext cx="1674368" cy="1674368"/>
            </a:xfrm>
            <a:custGeom>
              <a:avLst/>
              <a:gdLst/>
              <a:ahLst/>
              <a:cxnLst/>
              <a:rect r="r" b="b" t="t" l="l"/>
              <a:pathLst>
                <a:path h="1674368" w="1674368">
                  <a:moveTo>
                    <a:pt x="0" y="0"/>
                  </a:moveTo>
                  <a:lnTo>
                    <a:pt x="1674368" y="0"/>
                  </a:lnTo>
                  <a:lnTo>
                    <a:pt x="1674368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75968" cy="1775968"/>
            </a:xfrm>
            <a:custGeom>
              <a:avLst/>
              <a:gdLst/>
              <a:ahLst/>
              <a:cxnLst/>
              <a:rect r="r" b="b" t="t" l="l"/>
              <a:pathLst>
                <a:path h="1775968" w="1775968">
                  <a:moveTo>
                    <a:pt x="50800" y="0"/>
                  </a:moveTo>
                  <a:lnTo>
                    <a:pt x="1725168" y="0"/>
                  </a:lnTo>
                  <a:cubicBezTo>
                    <a:pt x="1753235" y="0"/>
                    <a:pt x="1775968" y="22733"/>
                    <a:pt x="1775968" y="50800"/>
                  </a:cubicBezTo>
                  <a:lnTo>
                    <a:pt x="1775968" y="1725168"/>
                  </a:lnTo>
                  <a:cubicBezTo>
                    <a:pt x="1775968" y="1753235"/>
                    <a:pt x="1753235" y="1775968"/>
                    <a:pt x="1725168" y="1775968"/>
                  </a:cubicBezTo>
                  <a:lnTo>
                    <a:pt x="50800" y="1775968"/>
                  </a:lnTo>
                  <a:cubicBezTo>
                    <a:pt x="22733" y="1775968"/>
                    <a:pt x="0" y="1753235"/>
                    <a:pt x="0" y="1725168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moveTo>
                    <a:pt x="50800" y="101600"/>
                  </a:moveTo>
                  <a:lnTo>
                    <a:pt x="50800" y="50800"/>
                  </a:lnTo>
                  <a:lnTo>
                    <a:pt x="101600" y="50800"/>
                  </a:lnTo>
                  <a:lnTo>
                    <a:pt x="101600" y="1725168"/>
                  </a:lnTo>
                  <a:lnTo>
                    <a:pt x="50800" y="1725168"/>
                  </a:lnTo>
                  <a:lnTo>
                    <a:pt x="50800" y="1674368"/>
                  </a:lnTo>
                  <a:lnTo>
                    <a:pt x="1725168" y="1674368"/>
                  </a:lnTo>
                  <a:lnTo>
                    <a:pt x="1725168" y="1725168"/>
                  </a:lnTo>
                  <a:lnTo>
                    <a:pt x="1674368" y="1725168"/>
                  </a:lnTo>
                  <a:lnTo>
                    <a:pt x="1674368" y="50800"/>
                  </a:lnTo>
                  <a:lnTo>
                    <a:pt x="1725168" y="50800"/>
                  </a:lnTo>
                  <a:lnTo>
                    <a:pt x="1725168" y="101600"/>
                  </a:lnTo>
                  <a:lnTo>
                    <a:pt x="50800" y="101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587750" y="2614000"/>
            <a:ext cx="1332000" cy="1332000"/>
            <a:chOff x="0" y="0"/>
            <a:chExt cx="1776000" cy="177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0800" y="50800"/>
              <a:ext cx="1674368" cy="1674368"/>
            </a:xfrm>
            <a:custGeom>
              <a:avLst/>
              <a:gdLst/>
              <a:ahLst/>
              <a:cxnLst/>
              <a:rect r="r" b="b" t="t" l="l"/>
              <a:pathLst>
                <a:path h="1674368" w="1674368">
                  <a:moveTo>
                    <a:pt x="0" y="0"/>
                  </a:moveTo>
                  <a:lnTo>
                    <a:pt x="1674368" y="0"/>
                  </a:lnTo>
                  <a:lnTo>
                    <a:pt x="1674368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75968" cy="1775968"/>
            </a:xfrm>
            <a:custGeom>
              <a:avLst/>
              <a:gdLst/>
              <a:ahLst/>
              <a:cxnLst/>
              <a:rect r="r" b="b" t="t" l="l"/>
              <a:pathLst>
                <a:path h="1775968" w="1775968">
                  <a:moveTo>
                    <a:pt x="50800" y="0"/>
                  </a:moveTo>
                  <a:lnTo>
                    <a:pt x="1725168" y="0"/>
                  </a:lnTo>
                  <a:cubicBezTo>
                    <a:pt x="1753235" y="0"/>
                    <a:pt x="1775968" y="22733"/>
                    <a:pt x="1775968" y="50800"/>
                  </a:cubicBezTo>
                  <a:lnTo>
                    <a:pt x="1775968" y="1725168"/>
                  </a:lnTo>
                  <a:cubicBezTo>
                    <a:pt x="1775968" y="1753235"/>
                    <a:pt x="1753235" y="1775968"/>
                    <a:pt x="1725168" y="1775968"/>
                  </a:cubicBezTo>
                  <a:lnTo>
                    <a:pt x="50800" y="1775968"/>
                  </a:lnTo>
                  <a:cubicBezTo>
                    <a:pt x="22733" y="1775968"/>
                    <a:pt x="0" y="1753235"/>
                    <a:pt x="0" y="1725168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moveTo>
                    <a:pt x="50800" y="101600"/>
                  </a:moveTo>
                  <a:lnTo>
                    <a:pt x="50800" y="50800"/>
                  </a:lnTo>
                  <a:lnTo>
                    <a:pt x="101600" y="50800"/>
                  </a:lnTo>
                  <a:lnTo>
                    <a:pt x="101600" y="1725168"/>
                  </a:lnTo>
                  <a:lnTo>
                    <a:pt x="50800" y="1725168"/>
                  </a:lnTo>
                  <a:lnTo>
                    <a:pt x="50800" y="1674368"/>
                  </a:lnTo>
                  <a:lnTo>
                    <a:pt x="1725168" y="1674368"/>
                  </a:lnTo>
                  <a:lnTo>
                    <a:pt x="1725168" y="1725168"/>
                  </a:lnTo>
                  <a:lnTo>
                    <a:pt x="1674368" y="1725168"/>
                  </a:lnTo>
                  <a:lnTo>
                    <a:pt x="1674368" y="50800"/>
                  </a:lnTo>
                  <a:lnTo>
                    <a:pt x="1725168" y="50800"/>
                  </a:lnTo>
                  <a:lnTo>
                    <a:pt x="1725168" y="101600"/>
                  </a:lnTo>
                  <a:lnTo>
                    <a:pt x="50800" y="101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587750" y="5630500"/>
            <a:ext cx="1332000" cy="1332000"/>
            <a:chOff x="0" y="0"/>
            <a:chExt cx="1776000" cy="1776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0800" y="50800"/>
              <a:ext cx="1674368" cy="1674368"/>
            </a:xfrm>
            <a:custGeom>
              <a:avLst/>
              <a:gdLst/>
              <a:ahLst/>
              <a:cxnLst/>
              <a:rect r="r" b="b" t="t" l="l"/>
              <a:pathLst>
                <a:path h="1674368" w="1674368">
                  <a:moveTo>
                    <a:pt x="0" y="0"/>
                  </a:moveTo>
                  <a:lnTo>
                    <a:pt x="1674368" y="0"/>
                  </a:lnTo>
                  <a:lnTo>
                    <a:pt x="1674368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75968" cy="1775968"/>
            </a:xfrm>
            <a:custGeom>
              <a:avLst/>
              <a:gdLst/>
              <a:ahLst/>
              <a:cxnLst/>
              <a:rect r="r" b="b" t="t" l="l"/>
              <a:pathLst>
                <a:path h="1775968" w="1775968">
                  <a:moveTo>
                    <a:pt x="50800" y="0"/>
                  </a:moveTo>
                  <a:lnTo>
                    <a:pt x="1725168" y="0"/>
                  </a:lnTo>
                  <a:cubicBezTo>
                    <a:pt x="1753235" y="0"/>
                    <a:pt x="1775968" y="22733"/>
                    <a:pt x="1775968" y="50800"/>
                  </a:cubicBezTo>
                  <a:lnTo>
                    <a:pt x="1775968" y="1725168"/>
                  </a:lnTo>
                  <a:cubicBezTo>
                    <a:pt x="1775968" y="1753235"/>
                    <a:pt x="1753235" y="1775968"/>
                    <a:pt x="1725168" y="1775968"/>
                  </a:cubicBezTo>
                  <a:lnTo>
                    <a:pt x="50800" y="1775968"/>
                  </a:lnTo>
                  <a:cubicBezTo>
                    <a:pt x="22733" y="1775968"/>
                    <a:pt x="0" y="1753235"/>
                    <a:pt x="0" y="1725168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moveTo>
                    <a:pt x="50800" y="101600"/>
                  </a:moveTo>
                  <a:lnTo>
                    <a:pt x="50800" y="50800"/>
                  </a:lnTo>
                  <a:lnTo>
                    <a:pt x="101600" y="50800"/>
                  </a:lnTo>
                  <a:lnTo>
                    <a:pt x="101600" y="1725168"/>
                  </a:lnTo>
                  <a:lnTo>
                    <a:pt x="50800" y="1725168"/>
                  </a:lnTo>
                  <a:lnTo>
                    <a:pt x="50800" y="1674368"/>
                  </a:lnTo>
                  <a:lnTo>
                    <a:pt x="1725168" y="1674368"/>
                  </a:lnTo>
                  <a:lnTo>
                    <a:pt x="1725168" y="1725168"/>
                  </a:lnTo>
                  <a:lnTo>
                    <a:pt x="1674368" y="1725168"/>
                  </a:lnTo>
                  <a:lnTo>
                    <a:pt x="1674368" y="50800"/>
                  </a:lnTo>
                  <a:lnTo>
                    <a:pt x="1725168" y="50800"/>
                  </a:lnTo>
                  <a:lnTo>
                    <a:pt x="1725168" y="101600"/>
                  </a:lnTo>
                  <a:lnTo>
                    <a:pt x="50800" y="101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2548900" y="5875054"/>
            <a:ext cx="640996" cy="744194"/>
          </a:xfrm>
          <a:custGeom>
            <a:avLst/>
            <a:gdLst/>
            <a:ahLst/>
            <a:cxnLst/>
            <a:rect r="r" b="b" t="t" l="l"/>
            <a:pathLst>
              <a:path h="744194" w="640996">
                <a:moveTo>
                  <a:pt x="0" y="0"/>
                </a:moveTo>
                <a:lnTo>
                  <a:pt x="640996" y="0"/>
                </a:lnTo>
                <a:lnTo>
                  <a:pt x="640996" y="744194"/>
                </a:lnTo>
                <a:lnTo>
                  <a:pt x="0" y="7441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817748" y="2978952"/>
            <a:ext cx="872004" cy="602098"/>
          </a:xfrm>
          <a:custGeom>
            <a:avLst/>
            <a:gdLst/>
            <a:ahLst/>
            <a:cxnLst/>
            <a:rect r="r" b="b" t="t" l="l"/>
            <a:pathLst>
              <a:path h="602098" w="872004">
                <a:moveTo>
                  <a:pt x="0" y="0"/>
                </a:moveTo>
                <a:lnTo>
                  <a:pt x="872004" y="0"/>
                </a:lnTo>
                <a:lnTo>
                  <a:pt x="872004" y="602098"/>
                </a:lnTo>
                <a:lnTo>
                  <a:pt x="0" y="6020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778246" y="6053798"/>
            <a:ext cx="900398" cy="485354"/>
          </a:xfrm>
          <a:custGeom>
            <a:avLst/>
            <a:gdLst/>
            <a:ahLst/>
            <a:cxnLst/>
            <a:rect r="r" b="b" t="t" l="l"/>
            <a:pathLst>
              <a:path h="485354" w="900398">
                <a:moveTo>
                  <a:pt x="0" y="0"/>
                </a:moveTo>
                <a:lnTo>
                  <a:pt x="900398" y="0"/>
                </a:lnTo>
                <a:lnTo>
                  <a:pt x="900398" y="485354"/>
                </a:lnTo>
                <a:lnTo>
                  <a:pt x="0" y="48535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479450" y="2941948"/>
            <a:ext cx="779956" cy="676102"/>
          </a:xfrm>
          <a:custGeom>
            <a:avLst/>
            <a:gdLst/>
            <a:ahLst/>
            <a:cxnLst/>
            <a:rect r="r" b="b" t="t" l="l"/>
            <a:pathLst>
              <a:path h="676102" w="779956">
                <a:moveTo>
                  <a:pt x="0" y="0"/>
                </a:moveTo>
                <a:lnTo>
                  <a:pt x="779956" y="0"/>
                </a:lnTo>
                <a:lnTo>
                  <a:pt x="779956" y="676102"/>
                </a:lnTo>
                <a:lnTo>
                  <a:pt x="0" y="67610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06698" y="8346850"/>
            <a:ext cx="5979000" cy="5979000"/>
            <a:chOff x="0" y="0"/>
            <a:chExt cx="7972000" cy="797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72044" cy="7972044"/>
            </a:xfrm>
            <a:custGeom>
              <a:avLst/>
              <a:gdLst/>
              <a:ahLst/>
              <a:cxnLst/>
              <a:rect r="r" b="b" t="t" l="l"/>
              <a:pathLst>
                <a:path h="7972044" w="7972044">
                  <a:moveTo>
                    <a:pt x="0" y="3986022"/>
                  </a:moveTo>
                  <a:cubicBezTo>
                    <a:pt x="0" y="1784604"/>
                    <a:pt x="1784604" y="0"/>
                    <a:pt x="3986022" y="0"/>
                  </a:cubicBezTo>
                  <a:cubicBezTo>
                    <a:pt x="6187440" y="0"/>
                    <a:pt x="7972044" y="1784604"/>
                    <a:pt x="7972044" y="3986022"/>
                  </a:cubicBezTo>
                  <a:cubicBezTo>
                    <a:pt x="7972044" y="6187440"/>
                    <a:pt x="6187440" y="7972044"/>
                    <a:pt x="3986022" y="7972044"/>
                  </a:cubicBezTo>
                  <a:cubicBezTo>
                    <a:pt x="1784603" y="7972044"/>
                    <a:pt x="0" y="6187440"/>
                    <a:pt x="0" y="3986022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4435646" y="8328667"/>
            <a:ext cx="24254738" cy="3007683"/>
          </a:xfrm>
          <a:custGeom>
            <a:avLst/>
            <a:gdLst/>
            <a:ahLst/>
            <a:cxnLst/>
            <a:rect r="r" b="b" t="t" l="l"/>
            <a:pathLst>
              <a:path h="3007683" w="24254738">
                <a:moveTo>
                  <a:pt x="0" y="0"/>
                </a:moveTo>
                <a:lnTo>
                  <a:pt x="24254739" y="0"/>
                </a:lnTo>
                <a:lnTo>
                  <a:pt x="24254739" y="3007683"/>
                </a:lnTo>
                <a:lnTo>
                  <a:pt x="0" y="3007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90686" y="9026274"/>
            <a:ext cx="1028498" cy="1261031"/>
          </a:xfrm>
          <a:custGeom>
            <a:avLst/>
            <a:gdLst/>
            <a:ahLst/>
            <a:cxnLst/>
            <a:rect r="r" b="b" t="t" l="l"/>
            <a:pathLst>
              <a:path h="1261031" w="1028498">
                <a:moveTo>
                  <a:pt x="0" y="0"/>
                </a:moveTo>
                <a:lnTo>
                  <a:pt x="1028498" y="0"/>
                </a:lnTo>
                <a:lnTo>
                  <a:pt x="1028498" y="1261031"/>
                </a:lnTo>
                <a:lnTo>
                  <a:pt x="0" y="12610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1778" y="8605840"/>
            <a:ext cx="749314" cy="926300"/>
          </a:xfrm>
          <a:custGeom>
            <a:avLst/>
            <a:gdLst/>
            <a:ahLst/>
            <a:cxnLst/>
            <a:rect r="r" b="b" t="t" l="l"/>
            <a:pathLst>
              <a:path h="926300" w="749314">
                <a:moveTo>
                  <a:pt x="0" y="0"/>
                </a:moveTo>
                <a:lnTo>
                  <a:pt x="749314" y="0"/>
                </a:lnTo>
                <a:lnTo>
                  <a:pt x="749314" y="926300"/>
                </a:lnTo>
                <a:lnTo>
                  <a:pt x="0" y="926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65050" y="-7768830"/>
            <a:ext cx="3247098" cy="12765874"/>
          </a:xfrm>
          <a:custGeom>
            <a:avLst/>
            <a:gdLst/>
            <a:ahLst/>
            <a:cxnLst/>
            <a:rect r="r" b="b" t="t" l="l"/>
            <a:pathLst>
              <a:path h="12765874" w="3247098">
                <a:moveTo>
                  <a:pt x="0" y="0"/>
                </a:moveTo>
                <a:lnTo>
                  <a:pt x="3247098" y="0"/>
                </a:lnTo>
                <a:lnTo>
                  <a:pt x="3247098" y="12765874"/>
                </a:lnTo>
                <a:lnTo>
                  <a:pt x="0" y="127658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31425" y="800500"/>
            <a:ext cx="15225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Train</a:t>
            </a:r>
            <a:r>
              <a:rPr lang="en-US" sz="60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ing Setup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473773"/>
            <a:ext cx="4639549" cy="81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6"/>
              </a:lnSpc>
            </a:pPr>
            <a:r>
              <a:rPr lang="en-US" sz="5163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5163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rain/test split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026802"/>
            <a:ext cx="5233890" cy="153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7"/>
              </a:lnSpc>
            </a:pPr>
            <a:r>
              <a:rPr lang="en-US" sz="4972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Hyper parameters</a:t>
            </a:r>
            <a:r>
              <a:rPr lang="en-US" sz="4972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 Tuning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02050" y="3483298"/>
            <a:ext cx="4922642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Tools us</a:t>
            </a: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ed (Python, Scikit-learn, pandas, Matplotlib)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83000" y="6446934"/>
            <a:ext cx="5233890" cy="153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7"/>
              </a:lnSpc>
            </a:pPr>
            <a:r>
              <a:rPr lang="en-US" sz="4972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Kaggle Environment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3000" y="7798750"/>
            <a:ext cx="8955000" cy="8955000"/>
            <a:chOff x="0" y="0"/>
            <a:chExt cx="11940000" cy="119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40032" cy="11940032"/>
            </a:xfrm>
            <a:custGeom>
              <a:avLst/>
              <a:gdLst/>
              <a:ahLst/>
              <a:cxnLst/>
              <a:rect r="r" b="b" t="t" l="l"/>
              <a:pathLst>
                <a:path h="11940032" w="11940032">
                  <a:moveTo>
                    <a:pt x="0" y="5970016"/>
                  </a:moveTo>
                  <a:cubicBezTo>
                    <a:pt x="0" y="2672842"/>
                    <a:pt x="2672842" y="0"/>
                    <a:pt x="5970016" y="0"/>
                  </a:cubicBezTo>
                  <a:cubicBezTo>
                    <a:pt x="9267189" y="0"/>
                    <a:pt x="11940032" y="2672842"/>
                    <a:pt x="11940032" y="5970016"/>
                  </a:cubicBezTo>
                  <a:cubicBezTo>
                    <a:pt x="11940032" y="9267189"/>
                    <a:pt x="9267190" y="11940032"/>
                    <a:pt x="5970016" y="11940032"/>
                  </a:cubicBezTo>
                  <a:cubicBezTo>
                    <a:pt x="2672842" y="11940032"/>
                    <a:pt x="0" y="9267190"/>
                    <a:pt x="0" y="5970016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5800296" y="6860385"/>
            <a:ext cx="27696156" cy="3434432"/>
          </a:xfrm>
          <a:custGeom>
            <a:avLst/>
            <a:gdLst/>
            <a:ahLst/>
            <a:cxnLst/>
            <a:rect r="r" b="b" t="t" l="l"/>
            <a:pathLst>
              <a:path h="3434432" w="27696156">
                <a:moveTo>
                  <a:pt x="0" y="0"/>
                </a:moveTo>
                <a:lnTo>
                  <a:pt x="27696156" y="0"/>
                </a:lnTo>
                <a:lnTo>
                  <a:pt x="27696156" y="3434432"/>
                </a:lnTo>
                <a:lnTo>
                  <a:pt x="0" y="343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09126" y="7947178"/>
            <a:ext cx="1500024" cy="1260847"/>
          </a:xfrm>
          <a:custGeom>
            <a:avLst/>
            <a:gdLst/>
            <a:ahLst/>
            <a:cxnLst/>
            <a:rect r="r" b="b" t="t" l="l"/>
            <a:pathLst>
              <a:path h="1260847" w="1500024">
                <a:moveTo>
                  <a:pt x="0" y="0"/>
                </a:moveTo>
                <a:lnTo>
                  <a:pt x="1500024" y="0"/>
                </a:lnTo>
                <a:lnTo>
                  <a:pt x="1500024" y="1260847"/>
                </a:lnTo>
                <a:lnTo>
                  <a:pt x="0" y="1260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61538" y="-5246684"/>
            <a:ext cx="8484442" cy="13523160"/>
          </a:xfrm>
          <a:custGeom>
            <a:avLst/>
            <a:gdLst/>
            <a:ahLst/>
            <a:cxnLst/>
            <a:rect r="r" b="b" t="t" l="l"/>
            <a:pathLst>
              <a:path h="13523160" w="8484442">
                <a:moveTo>
                  <a:pt x="0" y="0"/>
                </a:moveTo>
                <a:lnTo>
                  <a:pt x="8484442" y="0"/>
                </a:lnTo>
                <a:lnTo>
                  <a:pt x="8484442" y="13523160"/>
                </a:lnTo>
                <a:lnTo>
                  <a:pt x="0" y="13523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90651" y="771801"/>
            <a:ext cx="8885347" cy="8436224"/>
          </a:xfrm>
          <a:custGeom>
            <a:avLst/>
            <a:gdLst/>
            <a:ahLst/>
            <a:cxnLst/>
            <a:rect r="r" b="b" t="t" l="l"/>
            <a:pathLst>
              <a:path h="8436224" w="8885347">
                <a:moveTo>
                  <a:pt x="0" y="0"/>
                </a:moveTo>
                <a:lnTo>
                  <a:pt x="8885347" y="0"/>
                </a:lnTo>
                <a:lnTo>
                  <a:pt x="8885347" y="8436224"/>
                </a:lnTo>
                <a:lnTo>
                  <a:pt x="0" y="84362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222850" y="2938149"/>
            <a:ext cx="706515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897FBB"/>
                </a:solidFill>
                <a:latin typeface="Arimo"/>
                <a:ea typeface="Arimo"/>
                <a:cs typeface="Arimo"/>
                <a:sym typeface="Arimo"/>
              </a:rPr>
              <a:t>Results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3000" y="7798750"/>
            <a:ext cx="8955000" cy="8955000"/>
            <a:chOff x="0" y="0"/>
            <a:chExt cx="11940000" cy="119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40032" cy="11940032"/>
            </a:xfrm>
            <a:custGeom>
              <a:avLst/>
              <a:gdLst/>
              <a:ahLst/>
              <a:cxnLst/>
              <a:rect r="r" b="b" t="t" l="l"/>
              <a:pathLst>
                <a:path h="11940032" w="11940032">
                  <a:moveTo>
                    <a:pt x="0" y="5970016"/>
                  </a:moveTo>
                  <a:cubicBezTo>
                    <a:pt x="0" y="2672842"/>
                    <a:pt x="2672842" y="0"/>
                    <a:pt x="5970016" y="0"/>
                  </a:cubicBezTo>
                  <a:cubicBezTo>
                    <a:pt x="9267189" y="0"/>
                    <a:pt x="11940032" y="2672842"/>
                    <a:pt x="11940032" y="5970016"/>
                  </a:cubicBezTo>
                  <a:cubicBezTo>
                    <a:pt x="11940032" y="9267189"/>
                    <a:pt x="9267190" y="11940032"/>
                    <a:pt x="5970016" y="11940032"/>
                  </a:cubicBezTo>
                  <a:cubicBezTo>
                    <a:pt x="2672842" y="11940032"/>
                    <a:pt x="0" y="9267190"/>
                    <a:pt x="0" y="5970016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8454151" y="7054151"/>
            <a:ext cx="27696156" cy="3434432"/>
          </a:xfrm>
          <a:custGeom>
            <a:avLst/>
            <a:gdLst/>
            <a:ahLst/>
            <a:cxnLst/>
            <a:rect r="r" b="b" t="t" l="l"/>
            <a:pathLst>
              <a:path h="3434432" w="27696156">
                <a:moveTo>
                  <a:pt x="0" y="0"/>
                </a:moveTo>
                <a:lnTo>
                  <a:pt x="27696156" y="0"/>
                </a:lnTo>
                <a:lnTo>
                  <a:pt x="27696156" y="3434432"/>
                </a:lnTo>
                <a:lnTo>
                  <a:pt x="0" y="343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7997453"/>
            <a:ext cx="1500024" cy="1260847"/>
          </a:xfrm>
          <a:custGeom>
            <a:avLst/>
            <a:gdLst/>
            <a:ahLst/>
            <a:cxnLst/>
            <a:rect r="r" b="b" t="t" l="l"/>
            <a:pathLst>
              <a:path h="1260847" w="1500024">
                <a:moveTo>
                  <a:pt x="0" y="0"/>
                </a:moveTo>
                <a:lnTo>
                  <a:pt x="1500024" y="0"/>
                </a:lnTo>
                <a:lnTo>
                  <a:pt x="1500024" y="1260847"/>
                </a:lnTo>
                <a:lnTo>
                  <a:pt x="0" y="1260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61538" y="-5246684"/>
            <a:ext cx="8484442" cy="13523160"/>
          </a:xfrm>
          <a:custGeom>
            <a:avLst/>
            <a:gdLst/>
            <a:ahLst/>
            <a:cxnLst/>
            <a:rect r="r" b="b" t="t" l="l"/>
            <a:pathLst>
              <a:path h="13523160" w="8484442">
                <a:moveTo>
                  <a:pt x="0" y="0"/>
                </a:moveTo>
                <a:lnTo>
                  <a:pt x="8484442" y="0"/>
                </a:lnTo>
                <a:lnTo>
                  <a:pt x="8484442" y="13523160"/>
                </a:lnTo>
                <a:lnTo>
                  <a:pt x="0" y="13523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31841" y="2618823"/>
            <a:ext cx="14027459" cy="6475321"/>
          </a:xfrm>
          <a:custGeom>
            <a:avLst/>
            <a:gdLst/>
            <a:ahLst/>
            <a:cxnLst/>
            <a:rect r="r" b="b" t="t" l="l"/>
            <a:pathLst>
              <a:path h="6475321" w="14027459">
                <a:moveTo>
                  <a:pt x="0" y="0"/>
                </a:moveTo>
                <a:lnTo>
                  <a:pt x="14027459" y="0"/>
                </a:lnTo>
                <a:lnTo>
                  <a:pt x="14027459" y="6475321"/>
                </a:lnTo>
                <a:lnTo>
                  <a:pt x="0" y="64753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26" t="0" r="-42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46877" y="651748"/>
            <a:ext cx="9281255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897FBB"/>
                </a:solidFill>
                <a:latin typeface="Arimo"/>
                <a:ea typeface="Arimo"/>
                <a:cs typeface="Arimo"/>
                <a:sym typeface="Arimo"/>
              </a:rPr>
              <a:t>Results-lightGBM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3000" y="7798750"/>
            <a:ext cx="8955000" cy="8955000"/>
            <a:chOff x="0" y="0"/>
            <a:chExt cx="11940000" cy="119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40032" cy="11940032"/>
            </a:xfrm>
            <a:custGeom>
              <a:avLst/>
              <a:gdLst/>
              <a:ahLst/>
              <a:cxnLst/>
              <a:rect r="r" b="b" t="t" l="l"/>
              <a:pathLst>
                <a:path h="11940032" w="11940032">
                  <a:moveTo>
                    <a:pt x="0" y="5970016"/>
                  </a:moveTo>
                  <a:cubicBezTo>
                    <a:pt x="0" y="2672842"/>
                    <a:pt x="2672842" y="0"/>
                    <a:pt x="5970016" y="0"/>
                  </a:cubicBezTo>
                  <a:cubicBezTo>
                    <a:pt x="9267189" y="0"/>
                    <a:pt x="11940032" y="2672842"/>
                    <a:pt x="11940032" y="5970016"/>
                  </a:cubicBezTo>
                  <a:cubicBezTo>
                    <a:pt x="11940032" y="9267189"/>
                    <a:pt x="9267190" y="11940032"/>
                    <a:pt x="5970016" y="11940032"/>
                  </a:cubicBezTo>
                  <a:cubicBezTo>
                    <a:pt x="2672842" y="11940032"/>
                    <a:pt x="0" y="9267190"/>
                    <a:pt x="0" y="5970016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8454151" y="7054151"/>
            <a:ext cx="27696156" cy="3434432"/>
          </a:xfrm>
          <a:custGeom>
            <a:avLst/>
            <a:gdLst/>
            <a:ahLst/>
            <a:cxnLst/>
            <a:rect r="r" b="b" t="t" l="l"/>
            <a:pathLst>
              <a:path h="3434432" w="27696156">
                <a:moveTo>
                  <a:pt x="0" y="0"/>
                </a:moveTo>
                <a:lnTo>
                  <a:pt x="27696156" y="0"/>
                </a:lnTo>
                <a:lnTo>
                  <a:pt x="27696156" y="3434432"/>
                </a:lnTo>
                <a:lnTo>
                  <a:pt x="0" y="343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6915" y="5143500"/>
            <a:ext cx="1500024" cy="1260847"/>
          </a:xfrm>
          <a:custGeom>
            <a:avLst/>
            <a:gdLst/>
            <a:ahLst/>
            <a:cxnLst/>
            <a:rect r="r" b="b" t="t" l="l"/>
            <a:pathLst>
              <a:path h="1260847" w="1500024">
                <a:moveTo>
                  <a:pt x="0" y="0"/>
                </a:moveTo>
                <a:lnTo>
                  <a:pt x="1500024" y="0"/>
                </a:lnTo>
                <a:lnTo>
                  <a:pt x="1500024" y="1260847"/>
                </a:lnTo>
                <a:lnTo>
                  <a:pt x="0" y="1260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61538" y="-5246684"/>
            <a:ext cx="8484442" cy="13523160"/>
          </a:xfrm>
          <a:custGeom>
            <a:avLst/>
            <a:gdLst/>
            <a:ahLst/>
            <a:cxnLst/>
            <a:rect r="r" b="b" t="t" l="l"/>
            <a:pathLst>
              <a:path h="13523160" w="8484442">
                <a:moveTo>
                  <a:pt x="0" y="0"/>
                </a:moveTo>
                <a:lnTo>
                  <a:pt x="8484442" y="0"/>
                </a:lnTo>
                <a:lnTo>
                  <a:pt x="8484442" y="13523160"/>
                </a:lnTo>
                <a:lnTo>
                  <a:pt x="0" y="13523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84345" y="3040751"/>
            <a:ext cx="15773720" cy="5325096"/>
          </a:xfrm>
          <a:custGeom>
            <a:avLst/>
            <a:gdLst/>
            <a:ahLst/>
            <a:cxnLst/>
            <a:rect r="r" b="b" t="t" l="l"/>
            <a:pathLst>
              <a:path h="5325096" w="15773720">
                <a:moveTo>
                  <a:pt x="0" y="0"/>
                </a:moveTo>
                <a:lnTo>
                  <a:pt x="15773720" y="0"/>
                </a:lnTo>
                <a:lnTo>
                  <a:pt x="15773720" y="5325097"/>
                </a:lnTo>
                <a:lnTo>
                  <a:pt x="0" y="53250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220" t="-5866" r="-9432" b="-1026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02548" y="385762"/>
            <a:ext cx="706515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897FBB"/>
                </a:solidFill>
                <a:latin typeface="Arimo"/>
                <a:ea typeface="Arimo"/>
                <a:cs typeface="Arimo"/>
                <a:sym typeface="Arimo"/>
              </a:rPr>
              <a:t>Results-NN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3000" y="7798750"/>
            <a:ext cx="8955000" cy="8955000"/>
            <a:chOff x="0" y="0"/>
            <a:chExt cx="11940000" cy="119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40032" cy="11940032"/>
            </a:xfrm>
            <a:custGeom>
              <a:avLst/>
              <a:gdLst/>
              <a:ahLst/>
              <a:cxnLst/>
              <a:rect r="r" b="b" t="t" l="l"/>
              <a:pathLst>
                <a:path h="11940032" w="11940032">
                  <a:moveTo>
                    <a:pt x="0" y="5970016"/>
                  </a:moveTo>
                  <a:cubicBezTo>
                    <a:pt x="0" y="2672842"/>
                    <a:pt x="2672842" y="0"/>
                    <a:pt x="5970016" y="0"/>
                  </a:cubicBezTo>
                  <a:cubicBezTo>
                    <a:pt x="9267189" y="0"/>
                    <a:pt x="11940032" y="2672842"/>
                    <a:pt x="11940032" y="5970016"/>
                  </a:cubicBezTo>
                  <a:cubicBezTo>
                    <a:pt x="11940032" y="9267189"/>
                    <a:pt x="9267190" y="11940032"/>
                    <a:pt x="5970016" y="11940032"/>
                  </a:cubicBezTo>
                  <a:cubicBezTo>
                    <a:pt x="2672842" y="11940032"/>
                    <a:pt x="0" y="9267190"/>
                    <a:pt x="0" y="5970016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5800296" y="6589042"/>
            <a:ext cx="27696156" cy="3434432"/>
          </a:xfrm>
          <a:custGeom>
            <a:avLst/>
            <a:gdLst/>
            <a:ahLst/>
            <a:cxnLst/>
            <a:rect r="r" b="b" t="t" l="l"/>
            <a:pathLst>
              <a:path h="3434432" w="27696156">
                <a:moveTo>
                  <a:pt x="0" y="0"/>
                </a:moveTo>
                <a:lnTo>
                  <a:pt x="27696156" y="0"/>
                </a:lnTo>
                <a:lnTo>
                  <a:pt x="27696156" y="3434432"/>
                </a:lnTo>
                <a:lnTo>
                  <a:pt x="0" y="343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09126" y="7947178"/>
            <a:ext cx="1500024" cy="1260847"/>
          </a:xfrm>
          <a:custGeom>
            <a:avLst/>
            <a:gdLst/>
            <a:ahLst/>
            <a:cxnLst/>
            <a:rect r="r" b="b" t="t" l="l"/>
            <a:pathLst>
              <a:path h="1260847" w="1500024">
                <a:moveTo>
                  <a:pt x="0" y="0"/>
                </a:moveTo>
                <a:lnTo>
                  <a:pt x="1500024" y="0"/>
                </a:lnTo>
                <a:lnTo>
                  <a:pt x="1500024" y="1260847"/>
                </a:lnTo>
                <a:lnTo>
                  <a:pt x="0" y="1260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61538" y="-5246684"/>
            <a:ext cx="8484442" cy="13523160"/>
          </a:xfrm>
          <a:custGeom>
            <a:avLst/>
            <a:gdLst/>
            <a:ahLst/>
            <a:cxnLst/>
            <a:rect r="r" b="b" t="t" l="l"/>
            <a:pathLst>
              <a:path h="13523160" w="8484442">
                <a:moveTo>
                  <a:pt x="0" y="0"/>
                </a:moveTo>
                <a:lnTo>
                  <a:pt x="8484442" y="0"/>
                </a:lnTo>
                <a:lnTo>
                  <a:pt x="8484442" y="13523160"/>
                </a:lnTo>
                <a:lnTo>
                  <a:pt x="0" y="13523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8006" y="3354583"/>
            <a:ext cx="8955994" cy="4444167"/>
          </a:xfrm>
          <a:custGeom>
            <a:avLst/>
            <a:gdLst/>
            <a:ahLst/>
            <a:cxnLst/>
            <a:rect r="r" b="b" t="t" l="l"/>
            <a:pathLst>
              <a:path h="4444167" w="8955994">
                <a:moveTo>
                  <a:pt x="0" y="0"/>
                </a:moveTo>
                <a:lnTo>
                  <a:pt x="8955994" y="0"/>
                </a:lnTo>
                <a:lnTo>
                  <a:pt x="8955994" y="4444167"/>
                </a:lnTo>
                <a:lnTo>
                  <a:pt x="0" y="44441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528" t="0" r="-952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65788" y="3300015"/>
            <a:ext cx="8533157" cy="4498735"/>
          </a:xfrm>
          <a:custGeom>
            <a:avLst/>
            <a:gdLst/>
            <a:ahLst/>
            <a:cxnLst/>
            <a:rect r="r" b="b" t="t" l="l"/>
            <a:pathLst>
              <a:path h="4498735" w="8533157">
                <a:moveTo>
                  <a:pt x="0" y="0"/>
                </a:moveTo>
                <a:lnTo>
                  <a:pt x="8533157" y="0"/>
                </a:lnTo>
                <a:lnTo>
                  <a:pt x="8533157" y="4498735"/>
                </a:lnTo>
                <a:lnTo>
                  <a:pt x="0" y="44987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037" t="-10287" r="-20410" b="-698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2289" y="267121"/>
            <a:ext cx="11935110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897FBB"/>
                </a:solidFill>
                <a:latin typeface="Arimo"/>
                <a:ea typeface="Arimo"/>
                <a:cs typeface="Arimo"/>
                <a:sym typeface="Arimo"/>
              </a:rPr>
              <a:t>Results-XGboost&amp;Catboost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3000" y="7798750"/>
            <a:ext cx="8955000" cy="8955000"/>
            <a:chOff x="0" y="0"/>
            <a:chExt cx="11940000" cy="119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40032" cy="11940032"/>
            </a:xfrm>
            <a:custGeom>
              <a:avLst/>
              <a:gdLst/>
              <a:ahLst/>
              <a:cxnLst/>
              <a:rect r="r" b="b" t="t" l="l"/>
              <a:pathLst>
                <a:path h="11940032" w="11940032">
                  <a:moveTo>
                    <a:pt x="0" y="5970016"/>
                  </a:moveTo>
                  <a:cubicBezTo>
                    <a:pt x="0" y="2672842"/>
                    <a:pt x="2672842" y="0"/>
                    <a:pt x="5970016" y="0"/>
                  </a:cubicBezTo>
                  <a:cubicBezTo>
                    <a:pt x="9267189" y="0"/>
                    <a:pt x="11940032" y="2672842"/>
                    <a:pt x="11940032" y="5970016"/>
                  </a:cubicBezTo>
                  <a:cubicBezTo>
                    <a:pt x="11940032" y="9267189"/>
                    <a:pt x="9267190" y="11940032"/>
                    <a:pt x="5970016" y="11940032"/>
                  </a:cubicBezTo>
                  <a:cubicBezTo>
                    <a:pt x="2672842" y="11940032"/>
                    <a:pt x="0" y="9267190"/>
                    <a:pt x="0" y="5970016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5800296" y="6589042"/>
            <a:ext cx="27696156" cy="3434432"/>
          </a:xfrm>
          <a:custGeom>
            <a:avLst/>
            <a:gdLst/>
            <a:ahLst/>
            <a:cxnLst/>
            <a:rect r="r" b="b" t="t" l="l"/>
            <a:pathLst>
              <a:path h="3434432" w="27696156">
                <a:moveTo>
                  <a:pt x="0" y="0"/>
                </a:moveTo>
                <a:lnTo>
                  <a:pt x="27696156" y="0"/>
                </a:lnTo>
                <a:lnTo>
                  <a:pt x="27696156" y="3434432"/>
                </a:lnTo>
                <a:lnTo>
                  <a:pt x="0" y="343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09126" y="7947178"/>
            <a:ext cx="1500024" cy="1260847"/>
          </a:xfrm>
          <a:custGeom>
            <a:avLst/>
            <a:gdLst/>
            <a:ahLst/>
            <a:cxnLst/>
            <a:rect r="r" b="b" t="t" l="l"/>
            <a:pathLst>
              <a:path h="1260847" w="1500024">
                <a:moveTo>
                  <a:pt x="0" y="0"/>
                </a:moveTo>
                <a:lnTo>
                  <a:pt x="1500024" y="0"/>
                </a:lnTo>
                <a:lnTo>
                  <a:pt x="1500024" y="1260847"/>
                </a:lnTo>
                <a:lnTo>
                  <a:pt x="0" y="1260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61538" y="-5246684"/>
            <a:ext cx="8484442" cy="13523160"/>
          </a:xfrm>
          <a:custGeom>
            <a:avLst/>
            <a:gdLst/>
            <a:ahLst/>
            <a:cxnLst/>
            <a:rect r="r" b="b" t="t" l="l"/>
            <a:pathLst>
              <a:path h="13523160" w="8484442">
                <a:moveTo>
                  <a:pt x="0" y="0"/>
                </a:moveTo>
                <a:lnTo>
                  <a:pt x="8484442" y="0"/>
                </a:lnTo>
                <a:lnTo>
                  <a:pt x="8484442" y="13523160"/>
                </a:lnTo>
                <a:lnTo>
                  <a:pt x="0" y="13523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92306" y="2014406"/>
            <a:ext cx="12303388" cy="5551904"/>
          </a:xfrm>
          <a:custGeom>
            <a:avLst/>
            <a:gdLst/>
            <a:ahLst/>
            <a:cxnLst/>
            <a:rect r="r" b="b" t="t" l="l"/>
            <a:pathLst>
              <a:path h="5551904" w="12303388">
                <a:moveTo>
                  <a:pt x="0" y="0"/>
                </a:moveTo>
                <a:lnTo>
                  <a:pt x="12303388" y="0"/>
                </a:lnTo>
                <a:lnTo>
                  <a:pt x="12303388" y="5551904"/>
                </a:lnTo>
                <a:lnTo>
                  <a:pt x="0" y="55519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62916" y="385762"/>
            <a:ext cx="13029483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897FBB"/>
                </a:solidFill>
                <a:latin typeface="Arimo"/>
                <a:ea typeface="Arimo"/>
                <a:cs typeface="Arimo"/>
                <a:sym typeface="Arimo"/>
              </a:rPr>
              <a:t>Results-Model Comparison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3032" y="-2734160"/>
            <a:ext cx="4653496" cy="8759990"/>
          </a:xfrm>
          <a:custGeom>
            <a:avLst/>
            <a:gdLst/>
            <a:ahLst/>
            <a:cxnLst/>
            <a:rect r="r" b="b" t="t" l="l"/>
            <a:pathLst>
              <a:path h="8759990" w="4653496">
                <a:moveTo>
                  <a:pt x="0" y="0"/>
                </a:moveTo>
                <a:lnTo>
                  <a:pt x="4653496" y="0"/>
                </a:lnTo>
                <a:lnTo>
                  <a:pt x="4653496" y="8759990"/>
                </a:lnTo>
                <a:lnTo>
                  <a:pt x="0" y="87599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12962" y="486003"/>
            <a:ext cx="10794750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40"/>
              </a:lnSpc>
            </a:pPr>
            <a:r>
              <a:rPr lang="en-US" sz="10200">
                <a:solidFill>
                  <a:srgbClr val="897FBB"/>
                </a:solidFill>
                <a:latin typeface="Arimo"/>
                <a:ea typeface="Arimo"/>
                <a:cs typeface="Arimo"/>
                <a:sym typeface="Arimo"/>
              </a:rPr>
              <a:t>limitations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03434" y="2918185"/>
            <a:ext cx="12414828" cy="544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8" indent="-35623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32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issing data in weather or road conditions</a:t>
            </a:r>
          </a:p>
          <a:p>
            <a:pPr algn="l">
              <a:lnSpc>
                <a:spcPts val="3959"/>
              </a:lnSpc>
            </a:pPr>
          </a:p>
          <a:p>
            <a:pPr algn="l" marL="712468" indent="-35623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Model accuracy depends on historical patterns</a:t>
            </a:r>
          </a:p>
          <a:p>
            <a:pPr algn="l">
              <a:lnSpc>
                <a:spcPts val="3959"/>
              </a:lnSpc>
            </a:pPr>
          </a:p>
          <a:p>
            <a:pPr algn="l" marL="712468" indent="-35623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Geographic bias in dataset coverage</a:t>
            </a:r>
          </a:p>
          <a:p>
            <a:pPr algn="l">
              <a:lnSpc>
                <a:spcPts val="3959"/>
              </a:lnSpc>
            </a:pPr>
          </a:p>
          <a:p>
            <a:pPr algn="l" marL="712468" indent="-35623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Lack of Real-Time Information</a:t>
            </a:r>
          </a:p>
          <a:p>
            <a:pPr algn="l">
              <a:lnSpc>
                <a:spcPts val="3959"/>
              </a:lnSpc>
            </a:pPr>
          </a:p>
          <a:p>
            <a:pPr algn="l" marL="712468" indent="-35623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Driver Behavior Data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1798312" y="6025830"/>
            <a:ext cx="8066400" cy="8066400"/>
            <a:chOff x="0" y="0"/>
            <a:chExt cx="10755200" cy="10755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55249" cy="10755249"/>
            </a:xfrm>
            <a:custGeom>
              <a:avLst/>
              <a:gdLst/>
              <a:ahLst/>
              <a:cxnLst/>
              <a:rect r="r" b="b" t="t" l="l"/>
              <a:pathLst>
                <a:path h="10755249" w="10755249">
                  <a:moveTo>
                    <a:pt x="0" y="5377561"/>
                  </a:moveTo>
                  <a:cubicBezTo>
                    <a:pt x="0" y="2407666"/>
                    <a:pt x="2407666" y="0"/>
                    <a:pt x="5377561" y="0"/>
                  </a:cubicBezTo>
                  <a:cubicBezTo>
                    <a:pt x="8347456" y="0"/>
                    <a:pt x="10755249" y="2407666"/>
                    <a:pt x="10755249" y="5377561"/>
                  </a:cubicBezTo>
                  <a:cubicBezTo>
                    <a:pt x="10755249" y="8347456"/>
                    <a:pt x="8347583" y="10755249"/>
                    <a:pt x="5377561" y="10755249"/>
                  </a:cubicBezTo>
                  <a:cubicBezTo>
                    <a:pt x="2407539" y="10755249"/>
                    <a:pt x="0" y="8347583"/>
                    <a:pt x="0" y="5377561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5800296" y="9207992"/>
            <a:ext cx="27696156" cy="3434432"/>
          </a:xfrm>
          <a:custGeom>
            <a:avLst/>
            <a:gdLst/>
            <a:ahLst/>
            <a:cxnLst/>
            <a:rect r="r" b="b" t="t" l="l"/>
            <a:pathLst>
              <a:path h="3434432" w="27696156">
                <a:moveTo>
                  <a:pt x="0" y="0"/>
                </a:moveTo>
                <a:lnTo>
                  <a:pt x="27696156" y="0"/>
                </a:lnTo>
                <a:lnTo>
                  <a:pt x="27696156" y="3434432"/>
                </a:lnTo>
                <a:lnTo>
                  <a:pt x="0" y="34344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22826" y="7947178"/>
            <a:ext cx="1500024" cy="1260847"/>
          </a:xfrm>
          <a:custGeom>
            <a:avLst/>
            <a:gdLst/>
            <a:ahLst/>
            <a:cxnLst/>
            <a:rect r="r" b="b" t="t" l="l"/>
            <a:pathLst>
              <a:path h="1260847" w="1500024">
                <a:moveTo>
                  <a:pt x="0" y="0"/>
                </a:moveTo>
                <a:lnTo>
                  <a:pt x="1500024" y="0"/>
                </a:lnTo>
                <a:lnTo>
                  <a:pt x="1500024" y="1260847"/>
                </a:lnTo>
                <a:lnTo>
                  <a:pt x="0" y="12608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09248" y="7598890"/>
            <a:ext cx="5803200" cy="1928710"/>
          </a:xfrm>
          <a:custGeom>
            <a:avLst/>
            <a:gdLst/>
            <a:ahLst/>
            <a:cxnLst/>
            <a:rect r="r" b="b" t="t" l="l"/>
            <a:pathLst>
              <a:path h="1928710" w="5803200">
                <a:moveTo>
                  <a:pt x="0" y="0"/>
                </a:moveTo>
                <a:lnTo>
                  <a:pt x="5803200" y="0"/>
                </a:lnTo>
                <a:lnTo>
                  <a:pt x="5803200" y="1928710"/>
                </a:lnTo>
                <a:lnTo>
                  <a:pt x="0" y="19287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61310" y="-845326"/>
            <a:ext cx="8287778" cy="13209700"/>
          </a:xfrm>
          <a:custGeom>
            <a:avLst/>
            <a:gdLst/>
            <a:ahLst/>
            <a:cxnLst/>
            <a:rect r="r" b="b" t="t" l="l"/>
            <a:pathLst>
              <a:path h="13209700" w="8287778">
                <a:moveTo>
                  <a:pt x="0" y="0"/>
                </a:moveTo>
                <a:lnTo>
                  <a:pt x="8287778" y="0"/>
                </a:lnTo>
                <a:lnTo>
                  <a:pt x="8287778" y="13209700"/>
                </a:lnTo>
                <a:lnTo>
                  <a:pt x="0" y="13209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59700" y="9517526"/>
            <a:ext cx="6118200" cy="6118200"/>
            <a:chOff x="0" y="0"/>
            <a:chExt cx="8157600" cy="8157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57591" cy="8157591"/>
            </a:xfrm>
            <a:custGeom>
              <a:avLst/>
              <a:gdLst/>
              <a:ahLst/>
              <a:cxnLst/>
              <a:rect r="r" b="b" t="t" l="l"/>
              <a:pathLst>
                <a:path h="8157591" w="8157591">
                  <a:moveTo>
                    <a:pt x="0" y="4078859"/>
                  </a:moveTo>
                  <a:cubicBezTo>
                    <a:pt x="0" y="1826133"/>
                    <a:pt x="1826133" y="0"/>
                    <a:pt x="4078859" y="0"/>
                  </a:cubicBezTo>
                  <a:cubicBezTo>
                    <a:pt x="6331586" y="0"/>
                    <a:pt x="8157591" y="1826133"/>
                    <a:pt x="8157591" y="4078859"/>
                  </a:cubicBezTo>
                  <a:cubicBezTo>
                    <a:pt x="8157591" y="6331586"/>
                    <a:pt x="6331458" y="8157591"/>
                    <a:pt x="4078859" y="8157591"/>
                  </a:cubicBezTo>
                  <a:cubicBezTo>
                    <a:pt x="1826260" y="8157591"/>
                    <a:pt x="0" y="6331458"/>
                    <a:pt x="0" y="4078859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358922" y="-4524338"/>
            <a:ext cx="1929058" cy="5836092"/>
          </a:xfrm>
          <a:custGeom>
            <a:avLst/>
            <a:gdLst/>
            <a:ahLst/>
            <a:cxnLst/>
            <a:rect r="r" b="b" t="t" l="l"/>
            <a:pathLst>
              <a:path h="5836092" w="1929058">
                <a:moveTo>
                  <a:pt x="0" y="0"/>
                </a:moveTo>
                <a:lnTo>
                  <a:pt x="1929058" y="0"/>
                </a:lnTo>
                <a:lnTo>
                  <a:pt x="1929058" y="5836092"/>
                </a:lnTo>
                <a:lnTo>
                  <a:pt x="0" y="58360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40386" y="9025974"/>
            <a:ext cx="1028498" cy="1261031"/>
          </a:xfrm>
          <a:custGeom>
            <a:avLst/>
            <a:gdLst/>
            <a:ahLst/>
            <a:cxnLst/>
            <a:rect r="r" b="b" t="t" l="l"/>
            <a:pathLst>
              <a:path h="1261031" w="1028498">
                <a:moveTo>
                  <a:pt x="0" y="0"/>
                </a:moveTo>
                <a:lnTo>
                  <a:pt x="1028498" y="0"/>
                </a:lnTo>
                <a:lnTo>
                  <a:pt x="1028498" y="1261031"/>
                </a:lnTo>
                <a:lnTo>
                  <a:pt x="0" y="1261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7128" y="5770340"/>
            <a:ext cx="749314" cy="926300"/>
          </a:xfrm>
          <a:custGeom>
            <a:avLst/>
            <a:gdLst/>
            <a:ahLst/>
            <a:cxnLst/>
            <a:rect r="r" b="b" t="t" l="l"/>
            <a:pathLst>
              <a:path h="926300" w="749314">
                <a:moveTo>
                  <a:pt x="0" y="0"/>
                </a:moveTo>
                <a:lnTo>
                  <a:pt x="749314" y="0"/>
                </a:lnTo>
                <a:lnTo>
                  <a:pt x="749314" y="926300"/>
                </a:lnTo>
                <a:lnTo>
                  <a:pt x="0" y="926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48405" y="1968217"/>
            <a:ext cx="12308653" cy="6892846"/>
          </a:xfrm>
          <a:custGeom>
            <a:avLst/>
            <a:gdLst/>
            <a:ahLst/>
            <a:cxnLst/>
            <a:rect r="r" b="b" t="t" l="l"/>
            <a:pathLst>
              <a:path h="6892846" w="12308653">
                <a:moveTo>
                  <a:pt x="0" y="0"/>
                </a:moveTo>
                <a:lnTo>
                  <a:pt x="12308654" y="0"/>
                </a:lnTo>
                <a:lnTo>
                  <a:pt x="12308654" y="6892846"/>
                </a:lnTo>
                <a:lnTo>
                  <a:pt x="0" y="68928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31425" y="368779"/>
            <a:ext cx="15225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Insights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61310" y="-845326"/>
            <a:ext cx="8287778" cy="13209700"/>
          </a:xfrm>
          <a:custGeom>
            <a:avLst/>
            <a:gdLst/>
            <a:ahLst/>
            <a:cxnLst/>
            <a:rect r="r" b="b" t="t" l="l"/>
            <a:pathLst>
              <a:path h="13209700" w="8287778">
                <a:moveTo>
                  <a:pt x="0" y="0"/>
                </a:moveTo>
                <a:lnTo>
                  <a:pt x="8287778" y="0"/>
                </a:lnTo>
                <a:lnTo>
                  <a:pt x="8287778" y="13209700"/>
                </a:lnTo>
                <a:lnTo>
                  <a:pt x="0" y="13209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59700" y="9517526"/>
            <a:ext cx="6118200" cy="6118200"/>
            <a:chOff x="0" y="0"/>
            <a:chExt cx="8157600" cy="8157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57591" cy="8157591"/>
            </a:xfrm>
            <a:custGeom>
              <a:avLst/>
              <a:gdLst/>
              <a:ahLst/>
              <a:cxnLst/>
              <a:rect r="r" b="b" t="t" l="l"/>
              <a:pathLst>
                <a:path h="8157591" w="8157591">
                  <a:moveTo>
                    <a:pt x="0" y="4078859"/>
                  </a:moveTo>
                  <a:cubicBezTo>
                    <a:pt x="0" y="1826133"/>
                    <a:pt x="1826133" y="0"/>
                    <a:pt x="4078859" y="0"/>
                  </a:cubicBezTo>
                  <a:cubicBezTo>
                    <a:pt x="6331586" y="0"/>
                    <a:pt x="8157591" y="1826133"/>
                    <a:pt x="8157591" y="4078859"/>
                  </a:cubicBezTo>
                  <a:cubicBezTo>
                    <a:pt x="8157591" y="6331586"/>
                    <a:pt x="6331458" y="8157591"/>
                    <a:pt x="4078859" y="8157591"/>
                  </a:cubicBezTo>
                  <a:cubicBezTo>
                    <a:pt x="1826260" y="8157591"/>
                    <a:pt x="0" y="6331458"/>
                    <a:pt x="0" y="4078859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358922" y="-4524338"/>
            <a:ext cx="1929058" cy="5836092"/>
          </a:xfrm>
          <a:custGeom>
            <a:avLst/>
            <a:gdLst/>
            <a:ahLst/>
            <a:cxnLst/>
            <a:rect r="r" b="b" t="t" l="l"/>
            <a:pathLst>
              <a:path h="5836092" w="1929058">
                <a:moveTo>
                  <a:pt x="0" y="0"/>
                </a:moveTo>
                <a:lnTo>
                  <a:pt x="1929058" y="0"/>
                </a:lnTo>
                <a:lnTo>
                  <a:pt x="1929058" y="5836092"/>
                </a:lnTo>
                <a:lnTo>
                  <a:pt x="0" y="58360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40386" y="9025974"/>
            <a:ext cx="1028498" cy="1261031"/>
          </a:xfrm>
          <a:custGeom>
            <a:avLst/>
            <a:gdLst/>
            <a:ahLst/>
            <a:cxnLst/>
            <a:rect r="r" b="b" t="t" l="l"/>
            <a:pathLst>
              <a:path h="1261031" w="1028498">
                <a:moveTo>
                  <a:pt x="0" y="0"/>
                </a:moveTo>
                <a:lnTo>
                  <a:pt x="1028498" y="0"/>
                </a:lnTo>
                <a:lnTo>
                  <a:pt x="1028498" y="1261031"/>
                </a:lnTo>
                <a:lnTo>
                  <a:pt x="0" y="1261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7128" y="5770340"/>
            <a:ext cx="749314" cy="926300"/>
          </a:xfrm>
          <a:custGeom>
            <a:avLst/>
            <a:gdLst/>
            <a:ahLst/>
            <a:cxnLst/>
            <a:rect r="r" b="b" t="t" l="l"/>
            <a:pathLst>
              <a:path h="926300" w="749314">
                <a:moveTo>
                  <a:pt x="0" y="0"/>
                </a:moveTo>
                <a:lnTo>
                  <a:pt x="749314" y="0"/>
                </a:lnTo>
                <a:lnTo>
                  <a:pt x="749314" y="926300"/>
                </a:lnTo>
                <a:lnTo>
                  <a:pt x="0" y="926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40183" y="2005066"/>
            <a:ext cx="12177049" cy="6819148"/>
          </a:xfrm>
          <a:custGeom>
            <a:avLst/>
            <a:gdLst/>
            <a:ahLst/>
            <a:cxnLst/>
            <a:rect r="r" b="b" t="t" l="l"/>
            <a:pathLst>
              <a:path h="6819148" w="12177049">
                <a:moveTo>
                  <a:pt x="0" y="0"/>
                </a:moveTo>
                <a:lnTo>
                  <a:pt x="12177049" y="0"/>
                </a:lnTo>
                <a:lnTo>
                  <a:pt x="12177049" y="6819148"/>
                </a:lnTo>
                <a:lnTo>
                  <a:pt x="0" y="68191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31425" y="368779"/>
            <a:ext cx="15225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Insights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61310" y="-845326"/>
            <a:ext cx="8287778" cy="13209700"/>
          </a:xfrm>
          <a:custGeom>
            <a:avLst/>
            <a:gdLst/>
            <a:ahLst/>
            <a:cxnLst/>
            <a:rect r="r" b="b" t="t" l="l"/>
            <a:pathLst>
              <a:path h="13209700" w="8287778">
                <a:moveTo>
                  <a:pt x="0" y="0"/>
                </a:moveTo>
                <a:lnTo>
                  <a:pt x="8287778" y="0"/>
                </a:lnTo>
                <a:lnTo>
                  <a:pt x="8287778" y="13209700"/>
                </a:lnTo>
                <a:lnTo>
                  <a:pt x="0" y="13209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59700" y="9517526"/>
            <a:ext cx="6118200" cy="6118200"/>
            <a:chOff x="0" y="0"/>
            <a:chExt cx="8157600" cy="8157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57591" cy="8157591"/>
            </a:xfrm>
            <a:custGeom>
              <a:avLst/>
              <a:gdLst/>
              <a:ahLst/>
              <a:cxnLst/>
              <a:rect r="r" b="b" t="t" l="l"/>
              <a:pathLst>
                <a:path h="8157591" w="8157591">
                  <a:moveTo>
                    <a:pt x="0" y="4078859"/>
                  </a:moveTo>
                  <a:cubicBezTo>
                    <a:pt x="0" y="1826133"/>
                    <a:pt x="1826133" y="0"/>
                    <a:pt x="4078859" y="0"/>
                  </a:cubicBezTo>
                  <a:cubicBezTo>
                    <a:pt x="6331586" y="0"/>
                    <a:pt x="8157591" y="1826133"/>
                    <a:pt x="8157591" y="4078859"/>
                  </a:cubicBezTo>
                  <a:cubicBezTo>
                    <a:pt x="8157591" y="6331586"/>
                    <a:pt x="6331458" y="8157591"/>
                    <a:pt x="4078859" y="8157591"/>
                  </a:cubicBezTo>
                  <a:cubicBezTo>
                    <a:pt x="1826260" y="8157591"/>
                    <a:pt x="0" y="6331458"/>
                    <a:pt x="0" y="4078859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358922" y="-4524338"/>
            <a:ext cx="1929058" cy="5836092"/>
          </a:xfrm>
          <a:custGeom>
            <a:avLst/>
            <a:gdLst/>
            <a:ahLst/>
            <a:cxnLst/>
            <a:rect r="r" b="b" t="t" l="l"/>
            <a:pathLst>
              <a:path h="5836092" w="1929058">
                <a:moveTo>
                  <a:pt x="0" y="0"/>
                </a:moveTo>
                <a:lnTo>
                  <a:pt x="1929058" y="0"/>
                </a:lnTo>
                <a:lnTo>
                  <a:pt x="1929058" y="5836092"/>
                </a:lnTo>
                <a:lnTo>
                  <a:pt x="0" y="58360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40386" y="9025974"/>
            <a:ext cx="1028498" cy="1261031"/>
          </a:xfrm>
          <a:custGeom>
            <a:avLst/>
            <a:gdLst/>
            <a:ahLst/>
            <a:cxnLst/>
            <a:rect r="r" b="b" t="t" l="l"/>
            <a:pathLst>
              <a:path h="1261031" w="1028498">
                <a:moveTo>
                  <a:pt x="0" y="0"/>
                </a:moveTo>
                <a:lnTo>
                  <a:pt x="1028498" y="0"/>
                </a:lnTo>
                <a:lnTo>
                  <a:pt x="1028498" y="1261031"/>
                </a:lnTo>
                <a:lnTo>
                  <a:pt x="0" y="1261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7128" y="5770340"/>
            <a:ext cx="749314" cy="926300"/>
          </a:xfrm>
          <a:custGeom>
            <a:avLst/>
            <a:gdLst/>
            <a:ahLst/>
            <a:cxnLst/>
            <a:rect r="r" b="b" t="t" l="l"/>
            <a:pathLst>
              <a:path h="926300" w="749314">
                <a:moveTo>
                  <a:pt x="0" y="0"/>
                </a:moveTo>
                <a:lnTo>
                  <a:pt x="749314" y="0"/>
                </a:lnTo>
                <a:lnTo>
                  <a:pt x="749314" y="926300"/>
                </a:lnTo>
                <a:lnTo>
                  <a:pt x="0" y="926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77834" y="2172059"/>
            <a:ext cx="11427598" cy="6485162"/>
          </a:xfrm>
          <a:custGeom>
            <a:avLst/>
            <a:gdLst/>
            <a:ahLst/>
            <a:cxnLst/>
            <a:rect r="r" b="b" t="t" l="l"/>
            <a:pathLst>
              <a:path h="6485162" w="11427598">
                <a:moveTo>
                  <a:pt x="0" y="0"/>
                </a:moveTo>
                <a:lnTo>
                  <a:pt x="11427598" y="0"/>
                </a:lnTo>
                <a:lnTo>
                  <a:pt x="11427598" y="6485162"/>
                </a:lnTo>
                <a:lnTo>
                  <a:pt x="0" y="64851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31425" y="368779"/>
            <a:ext cx="15225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Insights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61310" y="-845326"/>
            <a:ext cx="8287778" cy="13209700"/>
          </a:xfrm>
          <a:custGeom>
            <a:avLst/>
            <a:gdLst/>
            <a:ahLst/>
            <a:cxnLst/>
            <a:rect r="r" b="b" t="t" l="l"/>
            <a:pathLst>
              <a:path h="13209700" w="8287778">
                <a:moveTo>
                  <a:pt x="0" y="0"/>
                </a:moveTo>
                <a:lnTo>
                  <a:pt x="8287778" y="0"/>
                </a:lnTo>
                <a:lnTo>
                  <a:pt x="8287778" y="13209700"/>
                </a:lnTo>
                <a:lnTo>
                  <a:pt x="0" y="13209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59700" y="9517526"/>
            <a:ext cx="6118200" cy="6118200"/>
            <a:chOff x="0" y="0"/>
            <a:chExt cx="8157600" cy="8157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57591" cy="8157591"/>
            </a:xfrm>
            <a:custGeom>
              <a:avLst/>
              <a:gdLst/>
              <a:ahLst/>
              <a:cxnLst/>
              <a:rect r="r" b="b" t="t" l="l"/>
              <a:pathLst>
                <a:path h="8157591" w="8157591">
                  <a:moveTo>
                    <a:pt x="0" y="4078859"/>
                  </a:moveTo>
                  <a:cubicBezTo>
                    <a:pt x="0" y="1826133"/>
                    <a:pt x="1826133" y="0"/>
                    <a:pt x="4078859" y="0"/>
                  </a:cubicBezTo>
                  <a:cubicBezTo>
                    <a:pt x="6331586" y="0"/>
                    <a:pt x="8157591" y="1826133"/>
                    <a:pt x="8157591" y="4078859"/>
                  </a:cubicBezTo>
                  <a:cubicBezTo>
                    <a:pt x="8157591" y="6331586"/>
                    <a:pt x="6331458" y="8157591"/>
                    <a:pt x="4078859" y="8157591"/>
                  </a:cubicBezTo>
                  <a:cubicBezTo>
                    <a:pt x="1826260" y="8157591"/>
                    <a:pt x="0" y="6331458"/>
                    <a:pt x="0" y="4078859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358922" y="-4524338"/>
            <a:ext cx="1929058" cy="5836092"/>
          </a:xfrm>
          <a:custGeom>
            <a:avLst/>
            <a:gdLst/>
            <a:ahLst/>
            <a:cxnLst/>
            <a:rect r="r" b="b" t="t" l="l"/>
            <a:pathLst>
              <a:path h="5836092" w="1929058">
                <a:moveTo>
                  <a:pt x="0" y="0"/>
                </a:moveTo>
                <a:lnTo>
                  <a:pt x="1929058" y="0"/>
                </a:lnTo>
                <a:lnTo>
                  <a:pt x="1929058" y="5836092"/>
                </a:lnTo>
                <a:lnTo>
                  <a:pt x="0" y="58360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40386" y="9025974"/>
            <a:ext cx="1028498" cy="1261031"/>
          </a:xfrm>
          <a:custGeom>
            <a:avLst/>
            <a:gdLst/>
            <a:ahLst/>
            <a:cxnLst/>
            <a:rect r="r" b="b" t="t" l="l"/>
            <a:pathLst>
              <a:path h="1261031" w="1028498">
                <a:moveTo>
                  <a:pt x="0" y="0"/>
                </a:moveTo>
                <a:lnTo>
                  <a:pt x="1028498" y="0"/>
                </a:lnTo>
                <a:lnTo>
                  <a:pt x="1028498" y="1261031"/>
                </a:lnTo>
                <a:lnTo>
                  <a:pt x="0" y="1261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7128" y="5770340"/>
            <a:ext cx="749314" cy="926300"/>
          </a:xfrm>
          <a:custGeom>
            <a:avLst/>
            <a:gdLst/>
            <a:ahLst/>
            <a:cxnLst/>
            <a:rect r="r" b="b" t="t" l="l"/>
            <a:pathLst>
              <a:path h="926300" w="749314">
                <a:moveTo>
                  <a:pt x="0" y="0"/>
                </a:moveTo>
                <a:lnTo>
                  <a:pt x="749314" y="0"/>
                </a:lnTo>
                <a:lnTo>
                  <a:pt x="749314" y="926300"/>
                </a:lnTo>
                <a:lnTo>
                  <a:pt x="0" y="926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42297" y="1923390"/>
            <a:ext cx="12055068" cy="6720701"/>
          </a:xfrm>
          <a:custGeom>
            <a:avLst/>
            <a:gdLst/>
            <a:ahLst/>
            <a:cxnLst/>
            <a:rect r="r" b="b" t="t" l="l"/>
            <a:pathLst>
              <a:path h="6720701" w="12055068">
                <a:moveTo>
                  <a:pt x="0" y="0"/>
                </a:moveTo>
                <a:lnTo>
                  <a:pt x="12055069" y="0"/>
                </a:lnTo>
                <a:lnTo>
                  <a:pt x="12055069" y="6720701"/>
                </a:lnTo>
                <a:lnTo>
                  <a:pt x="0" y="67207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31425" y="368779"/>
            <a:ext cx="15225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Insights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61310" y="-845326"/>
            <a:ext cx="8287778" cy="13209700"/>
          </a:xfrm>
          <a:custGeom>
            <a:avLst/>
            <a:gdLst/>
            <a:ahLst/>
            <a:cxnLst/>
            <a:rect r="r" b="b" t="t" l="l"/>
            <a:pathLst>
              <a:path h="13209700" w="8287778">
                <a:moveTo>
                  <a:pt x="0" y="0"/>
                </a:moveTo>
                <a:lnTo>
                  <a:pt x="8287778" y="0"/>
                </a:lnTo>
                <a:lnTo>
                  <a:pt x="8287778" y="13209700"/>
                </a:lnTo>
                <a:lnTo>
                  <a:pt x="0" y="13209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59700" y="9517526"/>
            <a:ext cx="6118200" cy="6118200"/>
            <a:chOff x="0" y="0"/>
            <a:chExt cx="8157600" cy="8157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57591" cy="8157591"/>
            </a:xfrm>
            <a:custGeom>
              <a:avLst/>
              <a:gdLst/>
              <a:ahLst/>
              <a:cxnLst/>
              <a:rect r="r" b="b" t="t" l="l"/>
              <a:pathLst>
                <a:path h="8157591" w="8157591">
                  <a:moveTo>
                    <a:pt x="0" y="4078859"/>
                  </a:moveTo>
                  <a:cubicBezTo>
                    <a:pt x="0" y="1826133"/>
                    <a:pt x="1826133" y="0"/>
                    <a:pt x="4078859" y="0"/>
                  </a:cubicBezTo>
                  <a:cubicBezTo>
                    <a:pt x="6331586" y="0"/>
                    <a:pt x="8157591" y="1826133"/>
                    <a:pt x="8157591" y="4078859"/>
                  </a:cubicBezTo>
                  <a:cubicBezTo>
                    <a:pt x="8157591" y="6331586"/>
                    <a:pt x="6331458" y="8157591"/>
                    <a:pt x="4078859" y="8157591"/>
                  </a:cubicBezTo>
                  <a:cubicBezTo>
                    <a:pt x="1826260" y="8157591"/>
                    <a:pt x="0" y="6331458"/>
                    <a:pt x="0" y="4078859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358922" y="-4524338"/>
            <a:ext cx="1929058" cy="5836092"/>
          </a:xfrm>
          <a:custGeom>
            <a:avLst/>
            <a:gdLst/>
            <a:ahLst/>
            <a:cxnLst/>
            <a:rect r="r" b="b" t="t" l="l"/>
            <a:pathLst>
              <a:path h="5836092" w="1929058">
                <a:moveTo>
                  <a:pt x="0" y="0"/>
                </a:moveTo>
                <a:lnTo>
                  <a:pt x="1929058" y="0"/>
                </a:lnTo>
                <a:lnTo>
                  <a:pt x="1929058" y="5836092"/>
                </a:lnTo>
                <a:lnTo>
                  <a:pt x="0" y="58360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40386" y="9025974"/>
            <a:ext cx="1028498" cy="1261031"/>
          </a:xfrm>
          <a:custGeom>
            <a:avLst/>
            <a:gdLst/>
            <a:ahLst/>
            <a:cxnLst/>
            <a:rect r="r" b="b" t="t" l="l"/>
            <a:pathLst>
              <a:path h="1261031" w="1028498">
                <a:moveTo>
                  <a:pt x="0" y="0"/>
                </a:moveTo>
                <a:lnTo>
                  <a:pt x="1028498" y="0"/>
                </a:lnTo>
                <a:lnTo>
                  <a:pt x="1028498" y="1261031"/>
                </a:lnTo>
                <a:lnTo>
                  <a:pt x="0" y="1261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7128" y="5770340"/>
            <a:ext cx="749314" cy="926300"/>
          </a:xfrm>
          <a:custGeom>
            <a:avLst/>
            <a:gdLst/>
            <a:ahLst/>
            <a:cxnLst/>
            <a:rect r="r" b="b" t="t" l="l"/>
            <a:pathLst>
              <a:path h="926300" w="749314">
                <a:moveTo>
                  <a:pt x="0" y="0"/>
                </a:moveTo>
                <a:lnTo>
                  <a:pt x="749314" y="0"/>
                </a:lnTo>
                <a:lnTo>
                  <a:pt x="749314" y="926300"/>
                </a:lnTo>
                <a:lnTo>
                  <a:pt x="0" y="926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93019" y="2044946"/>
            <a:ext cx="11954568" cy="6739388"/>
          </a:xfrm>
          <a:custGeom>
            <a:avLst/>
            <a:gdLst/>
            <a:ahLst/>
            <a:cxnLst/>
            <a:rect r="r" b="b" t="t" l="l"/>
            <a:pathLst>
              <a:path h="6739388" w="11954568">
                <a:moveTo>
                  <a:pt x="0" y="0"/>
                </a:moveTo>
                <a:lnTo>
                  <a:pt x="11954568" y="0"/>
                </a:lnTo>
                <a:lnTo>
                  <a:pt x="11954568" y="6739388"/>
                </a:lnTo>
                <a:lnTo>
                  <a:pt x="0" y="67393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31425" y="368779"/>
            <a:ext cx="15225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Insights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3650" y="8930976"/>
            <a:ext cx="6118200" cy="6118200"/>
            <a:chOff x="0" y="0"/>
            <a:chExt cx="8157600" cy="815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7591" cy="8157591"/>
            </a:xfrm>
            <a:custGeom>
              <a:avLst/>
              <a:gdLst/>
              <a:ahLst/>
              <a:cxnLst/>
              <a:rect r="r" b="b" t="t" l="l"/>
              <a:pathLst>
                <a:path h="8157591" w="8157591">
                  <a:moveTo>
                    <a:pt x="0" y="4078859"/>
                  </a:moveTo>
                  <a:cubicBezTo>
                    <a:pt x="0" y="1826133"/>
                    <a:pt x="1826133" y="0"/>
                    <a:pt x="4078859" y="0"/>
                  </a:cubicBezTo>
                  <a:cubicBezTo>
                    <a:pt x="6331586" y="0"/>
                    <a:pt x="8157591" y="1826133"/>
                    <a:pt x="8157591" y="4078859"/>
                  </a:cubicBezTo>
                  <a:cubicBezTo>
                    <a:pt x="8157591" y="6331586"/>
                    <a:pt x="6331458" y="8157591"/>
                    <a:pt x="4078859" y="8157591"/>
                  </a:cubicBezTo>
                  <a:cubicBezTo>
                    <a:pt x="1826260" y="8157591"/>
                    <a:pt x="0" y="6331458"/>
                    <a:pt x="0" y="4078859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48222" y="8717312"/>
            <a:ext cx="1929058" cy="5836092"/>
          </a:xfrm>
          <a:custGeom>
            <a:avLst/>
            <a:gdLst/>
            <a:ahLst/>
            <a:cxnLst/>
            <a:rect r="r" b="b" t="t" l="l"/>
            <a:pathLst>
              <a:path h="5836092" w="1929058">
                <a:moveTo>
                  <a:pt x="0" y="0"/>
                </a:moveTo>
                <a:lnTo>
                  <a:pt x="1929058" y="0"/>
                </a:lnTo>
                <a:lnTo>
                  <a:pt x="1929058" y="5836092"/>
                </a:lnTo>
                <a:lnTo>
                  <a:pt x="0" y="5836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2186" y="9026324"/>
            <a:ext cx="1028498" cy="1261031"/>
          </a:xfrm>
          <a:custGeom>
            <a:avLst/>
            <a:gdLst/>
            <a:ahLst/>
            <a:cxnLst/>
            <a:rect r="r" b="b" t="t" l="l"/>
            <a:pathLst>
              <a:path h="1261031" w="1028498">
                <a:moveTo>
                  <a:pt x="0" y="0"/>
                </a:moveTo>
                <a:lnTo>
                  <a:pt x="1028498" y="0"/>
                </a:lnTo>
                <a:lnTo>
                  <a:pt x="1028498" y="1261031"/>
                </a:lnTo>
                <a:lnTo>
                  <a:pt x="0" y="12610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718500" y="-215350"/>
            <a:ext cx="4158500" cy="3605000"/>
          </a:xfrm>
          <a:custGeom>
            <a:avLst/>
            <a:gdLst/>
            <a:ahLst/>
            <a:cxnLst/>
            <a:rect r="r" b="b" t="t" l="l"/>
            <a:pathLst>
              <a:path h="3605000" w="4158500">
                <a:moveTo>
                  <a:pt x="0" y="0"/>
                </a:moveTo>
                <a:lnTo>
                  <a:pt x="4158500" y="0"/>
                </a:lnTo>
                <a:lnTo>
                  <a:pt x="4158500" y="3605000"/>
                </a:lnTo>
                <a:lnTo>
                  <a:pt x="0" y="3605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38078" y="8004690"/>
            <a:ext cx="749314" cy="926300"/>
          </a:xfrm>
          <a:custGeom>
            <a:avLst/>
            <a:gdLst/>
            <a:ahLst/>
            <a:cxnLst/>
            <a:rect r="r" b="b" t="t" l="l"/>
            <a:pathLst>
              <a:path h="926300" w="749314">
                <a:moveTo>
                  <a:pt x="0" y="0"/>
                </a:moveTo>
                <a:lnTo>
                  <a:pt x="749314" y="0"/>
                </a:lnTo>
                <a:lnTo>
                  <a:pt x="749314" y="926300"/>
                </a:lnTo>
                <a:lnTo>
                  <a:pt x="0" y="926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31425" y="800500"/>
            <a:ext cx="15225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Futur</a:t>
            </a:r>
            <a:r>
              <a:rPr lang="en-US" sz="60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e 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8959" y="3763436"/>
            <a:ext cx="3441750" cy="60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Step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8959" y="4434346"/>
            <a:ext cx="34417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sz="30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Int</a:t>
            </a:r>
            <a:r>
              <a:rPr lang="en-US" sz="30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egrate real-time traffic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63795" y="3763436"/>
            <a:ext cx="3441750" cy="60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Step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11800" y="4525947"/>
            <a:ext cx="344175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Us</a:t>
            </a:r>
            <a:r>
              <a:rPr lang="en-US" sz="29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e deep learning models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51261" y="7509618"/>
            <a:ext cx="34417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Step 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84150" y="8354811"/>
            <a:ext cx="344175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Develop live tr</a:t>
            </a:r>
            <a:r>
              <a:rPr lang="en-US" sz="29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affic risk monitoring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22045" y="7877447"/>
            <a:ext cx="34417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Step3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31811" y="8610872"/>
            <a:ext cx="344175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Integr</a:t>
            </a:r>
            <a:r>
              <a:rPr lang="en-US" sz="29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ate Driver Behavior Data</a:t>
            </a:r>
          </a:p>
        </p:txBody>
      </p:sp>
      <p:sp>
        <p:nvSpPr>
          <p:cNvPr name="AutoShape 17" id="17"/>
          <p:cNvSpPr/>
          <p:nvPr/>
        </p:nvSpPr>
        <p:spPr>
          <a:xfrm>
            <a:off x="3369979" y="5787650"/>
            <a:ext cx="1972742" cy="9525"/>
          </a:xfrm>
          <a:prstGeom prst="line">
            <a:avLst/>
          </a:prstGeom>
          <a:ln cap="rnd" w="9525">
            <a:solidFill>
              <a:srgbClr val="5538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3169834" y="5377321"/>
            <a:ext cx="16" cy="200629"/>
          </a:xfrm>
          <a:prstGeom prst="line">
            <a:avLst/>
          </a:prstGeom>
          <a:ln cap="rnd" w="9525">
            <a:solidFill>
              <a:srgbClr val="5538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5242924" y="6287822"/>
            <a:ext cx="600152" cy="9525"/>
          </a:xfrm>
          <a:prstGeom prst="line">
            <a:avLst/>
          </a:prstGeom>
          <a:ln cap="rnd" w="9525">
            <a:solidFill>
              <a:srgbClr val="55386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2960150" y="5577950"/>
            <a:ext cx="419400" cy="419400"/>
            <a:chOff x="0" y="0"/>
            <a:chExt cx="559200" cy="55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9181" cy="559181"/>
            </a:xfrm>
            <a:custGeom>
              <a:avLst/>
              <a:gdLst/>
              <a:ahLst/>
              <a:cxnLst/>
              <a:rect r="r" b="b" t="t" l="l"/>
              <a:pathLst>
                <a:path h="559181" w="559181">
                  <a:moveTo>
                    <a:pt x="0" y="0"/>
                  </a:moveTo>
                  <a:lnTo>
                    <a:pt x="559181" y="0"/>
                  </a:lnTo>
                  <a:lnTo>
                    <a:pt x="559181" y="559181"/>
                  </a:lnTo>
                  <a:lnTo>
                    <a:pt x="0" y="559181"/>
                  </a:lnTo>
                  <a:close/>
                </a:path>
              </a:pathLst>
            </a:custGeom>
            <a:solidFill>
              <a:srgbClr val="8162A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333300" y="5577950"/>
            <a:ext cx="419400" cy="419400"/>
            <a:chOff x="0" y="0"/>
            <a:chExt cx="559200" cy="55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9181" cy="559181"/>
            </a:xfrm>
            <a:custGeom>
              <a:avLst/>
              <a:gdLst/>
              <a:ahLst/>
              <a:cxnLst/>
              <a:rect r="r" b="b" t="t" l="l"/>
              <a:pathLst>
                <a:path h="559181" w="559181">
                  <a:moveTo>
                    <a:pt x="0" y="0"/>
                  </a:moveTo>
                  <a:lnTo>
                    <a:pt x="559181" y="0"/>
                  </a:lnTo>
                  <a:lnTo>
                    <a:pt x="559181" y="559181"/>
                  </a:lnTo>
                  <a:lnTo>
                    <a:pt x="0" y="559181"/>
                  </a:lnTo>
                  <a:close/>
                </a:path>
              </a:pathLst>
            </a:custGeom>
            <a:solidFill>
              <a:srgbClr val="8162A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95125" y="5602272"/>
            <a:ext cx="419400" cy="419400"/>
            <a:chOff x="0" y="0"/>
            <a:chExt cx="559200" cy="55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9181" cy="559181"/>
            </a:xfrm>
            <a:custGeom>
              <a:avLst/>
              <a:gdLst/>
              <a:ahLst/>
              <a:cxnLst/>
              <a:rect r="r" b="b" t="t" l="l"/>
              <a:pathLst>
                <a:path h="559181" w="559181">
                  <a:moveTo>
                    <a:pt x="0" y="0"/>
                  </a:moveTo>
                  <a:lnTo>
                    <a:pt x="559181" y="0"/>
                  </a:lnTo>
                  <a:lnTo>
                    <a:pt x="559181" y="559181"/>
                  </a:lnTo>
                  <a:lnTo>
                    <a:pt x="0" y="559181"/>
                  </a:lnTo>
                  <a:close/>
                </a:path>
              </a:pathLst>
            </a:custGeom>
            <a:solidFill>
              <a:srgbClr val="8162A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079600" y="5577950"/>
            <a:ext cx="419400" cy="419400"/>
            <a:chOff x="0" y="0"/>
            <a:chExt cx="559200" cy="55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9181" cy="559181"/>
            </a:xfrm>
            <a:custGeom>
              <a:avLst/>
              <a:gdLst/>
              <a:ahLst/>
              <a:cxnLst/>
              <a:rect r="r" b="b" t="t" l="l"/>
              <a:pathLst>
                <a:path h="559181" w="559181">
                  <a:moveTo>
                    <a:pt x="0" y="0"/>
                  </a:moveTo>
                  <a:lnTo>
                    <a:pt x="559181" y="0"/>
                  </a:lnTo>
                  <a:lnTo>
                    <a:pt x="559181" y="559181"/>
                  </a:lnTo>
                  <a:lnTo>
                    <a:pt x="0" y="559181"/>
                  </a:lnTo>
                  <a:close/>
                </a:path>
              </a:pathLst>
            </a:custGeom>
            <a:solidFill>
              <a:srgbClr val="8162A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452750" y="5577950"/>
            <a:ext cx="419400" cy="419400"/>
            <a:chOff x="0" y="0"/>
            <a:chExt cx="559200" cy="55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9181" cy="559181"/>
            </a:xfrm>
            <a:custGeom>
              <a:avLst/>
              <a:gdLst/>
              <a:ahLst/>
              <a:cxnLst/>
              <a:rect r="r" b="b" t="t" l="l"/>
              <a:pathLst>
                <a:path h="559181" w="559181">
                  <a:moveTo>
                    <a:pt x="0" y="0"/>
                  </a:moveTo>
                  <a:lnTo>
                    <a:pt x="559181" y="0"/>
                  </a:lnTo>
                  <a:lnTo>
                    <a:pt x="559181" y="559181"/>
                  </a:lnTo>
                  <a:lnTo>
                    <a:pt x="0" y="559181"/>
                  </a:lnTo>
                  <a:close/>
                </a:path>
              </a:pathLst>
            </a:custGeom>
            <a:solidFill>
              <a:srgbClr val="8162A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825900" y="5577950"/>
            <a:ext cx="419400" cy="419400"/>
            <a:chOff x="0" y="0"/>
            <a:chExt cx="559200" cy="55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9181" cy="559181"/>
            </a:xfrm>
            <a:custGeom>
              <a:avLst/>
              <a:gdLst/>
              <a:ahLst/>
              <a:cxnLst/>
              <a:rect r="r" b="b" t="t" l="l"/>
              <a:pathLst>
                <a:path h="559181" w="559181">
                  <a:moveTo>
                    <a:pt x="0" y="0"/>
                  </a:moveTo>
                  <a:lnTo>
                    <a:pt x="559181" y="0"/>
                  </a:lnTo>
                  <a:lnTo>
                    <a:pt x="559181" y="559181"/>
                  </a:lnTo>
                  <a:lnTo>
                    <a:pt x="0" y="559181"/>
                  </a:lnTo>
                  <a:close/>
                </a:path>
              </a:pathLst>
            </a:custGeom>
            <a:solidFill>
              <a:srgbClr val="8162A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503850" y="2375450"/>
            <a:ext cx="1332000" cy="1332000"/>
            <a:chOff x="0" y="0"/>
            <a:chExt cx="1776000" cy="1776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0800" y="50800"/>
              <a:ext cx="1674368" cy="1674368"/>
            </a:xfrm>
            <a:custGeom>
              <a:avLst/>
              <a:gdLst/>
              <a:ahLst/>
              <a:cxnLst/>
              <a:rect r="r" b="b" t="t" l="l"/>
              <a:pathLst>
                <a:path h="1674368" w="1674368">
                  <a:moveTo>
                    <a:pt x="0" y="0"/>
                  </a:moveTo>
                  <a:lnTo>
                    <a:pt x="1674368" y="0"/>
                  </a:lnTo>
                  <a:lnTo>
                    <a:pt x="1674368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75968" cy="1775968"/>
            </a:xfrm>
            <a:custGeom>
              <a:avLst/>
              <a:gdLst/>
              <a:ahLst/>
              <a:cxnLst/>
              <a:rect r="r" b="b" t="t" l="l"/>
              <a:pathLst>
                <a:path h="1775968" w="1775968">
                  <a:moveTo>
                    <a:pt x="50800" y="0"/>
                  </a:moveTo>
                  <a:lnTo>
                    <a:pt x="1725168" y="0"/>
                  </a:lnTo>
                  <a:cubicBezTo>
                    <a:pt x="1753235" y="0"/>
                    <a:pt x="1775968" y="22733"/>
                    <a:pt x="1775968" y="50800"/>
                  </a:cubicBezTo>
                  <a:lnTo>
                    <a:pt x="1775968" y="1725168"/>
                  </a:lnTo>
                  <a:cubicBezTo>
                    <a:pt x="1775968" y="1753235"/>
                    <a:pt x="1753235" y="1775968"/>
                    <a:pt x="1725168" y="1775968"/>
                  </a:cubicBezTo>
                  <a:lnTo>
                    <a:pt x="50800" y="1775968"/>
                  </a:lnTo>
                  <a:cubicBezTo>
                    <a:pt x="22733" y="1775968"/>
                    <a:pt x="0" y="1753235"/>
                    <a:pt x="0" y="1725168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moveTo>
                    <a:pt x="50800" y="101600"/>
                  </a:moveTo>
                  <a:lnTo>
                    <a:pt x="50800" y="50800"/>
                  </a:lnTo>
                  <a:lnTo>
                    <a:pt x="101600" y="50800"/>
                  </a:lnTo>
                  <a:lnTo>
                    <a:pt x="101600" y="1725168"/>
                  </a:lnTo>
                  <a:lnTo>
                    <a:pt x="50800" y="1725168"/>
                  </a:lnTo>
                  <a:lnTo>
                    <a:pt x="50800" y="1674368"/>
                  </a:lnTo>
                  <a:lnTo>
                    <a:pt x="1725168" y="1674368"/>
                  </a:lnTo>
                  <a:lnTo>
                    <a:pt x="1725168" y="1725168"/>
                  </a:lnTo>
                  <a:lnTo>
                    <a:pt x="1674368" y="1725168"/>
                  </a:lnTo>
                  <a:lnTo>
                    <a:pt x="1674368" y="50800"/>
                  </a:lnTo>
                  <a:lnTo>
                    <a:pt x="1725168" y="50800"/>
                  </a:lnTo>
                  <a:lnTo>
                    <a:pt x="1725168" y="101600"/>
                  </a:lnTo>
                  <a:lnTo>
                    <a:pt x="50800" y="101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877000" y="6540122"/>
            <a:ext cx="1332000" cy="1332000"/>
            <a:chOff x="0" y="0"/>
            <a:chExt cx="1776000" cy="1776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0800" y="50800"/>
              <a:ext cx="1674368" cy="1674368"/>
            </a:xfrm>
            <a:custGeom>
              <a:avLst/>
              <a:gdLst/>
              <a:ahLst/>
              <a:cxnLst/>
              <a:rect r="r" b="b" t="t" l="l"/>
              <a:pathLst>
                <a:path h="1674368" w="1674368">
                  <a:moveTo>
                    <a:pt x="0" y="0"/>
                  </a:moveTo>
                  <a:lnTo>
                    <a:pt x="1674368" y="0"/>
                  </a:lnTo>
                  <a:lnTo>
                    <a:pt x="1674368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75968" cy="1775968"/>
            </a:xfrm>
            <a:custGeom>
              <a:avLst/>
              <a:gdLst/>
              <a:ahLst/>
              <a:cxnLst/>
              <a:rect r="r" b="b" t="t" l="l"/>
              <a:pathLst>
                <a:path h="1775968" w="1775968">
                  <a:moveTo>
                    <a:pt x="50800" y="0"/>
                  </a:moveTo>
                  <a:lnTo>
                    <a:pt x="1725168" y="0"/>
                  </a:lnTo>
                  <a:cubicBezTo>
                    <a:pt x="1753235" y="0"/>
                    <a:pt x="1775968" y="22733"/>
                    <a:pt x="1775968" y="50800"/>
                  </a:cubicBezTo>
                  <a:lnTo>
                    <a:pt x="1775968" y="1725168"/>
                  </a:lnTo>
                  <a:cubicBezTo>
                    <a:pt x="1775968" y="1753235"/>
                    <a:pt x="1753235" y="1775968"/>
                    <a:pt x="1725168" y="1775968"/>
                  </a:cubicBezTo>
                  <a:lnTo>
                    <a:pt x="50800" y="1775968"/>
                  </a:lnTo>
                  <a:cubicBezTo>
                    <a:pt x="22733" y="1775968"/>
                    <a:pt x="0" y="1753235"/>
                    <a:pt x="0" y="1725168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moveTo>
                    <a:pt x="50800" y="101600"/>
                  </a:moveTo>
                  <a:lnTo>
                    <a:pt x="50800" y="50800"/>
                  </a:lnTo>
                  <a:lnTo>
                    <a:pt x="101600" y="50800"/>
                  </a:lnTo>
                  <a:lnTo>
                    <a:pt x="101600" y="1725168"/>
                  </a:lnTo>
                  <a:lnTo>
                    <a:pt x="50800" y="1725168"/>
                  </a:lnTo>
                  <a:lnTo>
                    <a:pt x="50800" y="1674368"/>
                  </a:lnTo>
                  <a:lnTo>
                    <a:pt x="1725168" y="1674368"/>
                  </a:lnTo>
                  <a:lnTo>
                    <a:pt x="1725168" y="1725168"/>
                  </a:lnTo>
                  <a:lnTo>
                    <a:pt x="1674368" y="1725168"/>
                  </a:lnTo>
                  <a:lnTo>
                    <a:pt x="1674368" y="50800"/>
                  </a:lnTo>
                  <a:lnTo>
                    <a:pt x="1725168" y="50800"/>
                  </a:lnTo>
                  <a:lnTo>
                    <a:pt x="1725168" y="101600"/>
                  </a:lnTo>
                  <a:lnTo>
                    <a:pt x="50800" y="101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318750" y="2450486"/>
            <a:ext cx="1332000" cy="1332000"/>
            <a:chOff x="0" y="0"/>
            <a:chExt cx="1776000" cy="1776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50800" y="50800"/>
              <a:ext cx="1674368" cy="1674368"/>
            </a:xfrm>
            <a:custGeom>
              <a:avLst/>
              <a:gdLst/>
              <a:ahLst/>
              <a:cxnLst/>
              <a:rect r="r" b="b" t="t" l="l"/>
              <a:pathLst>
                <a:path h="1674368" w="1674368">
                  <a:moveTo>
                    <a:pt x="0" y="0"/>
                  </a:moveTo>
                  <a:lnTo>
                    <a:pt x="1674368" y="0"/>
                  </a:lnTo>
                  <a:lnTo>
                    <a:pt x="1674368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75968" cy="1775968"/>
            </a:xfrm>
            <a:custGeom>
              <a:avLst/>
              <a:gdLst/>
              <a:ahLst/>
              <a:cxnLst/>
              <a:rect r="r" b="b" t="t" l="l"/>
              <a:pathLst>
                <a:path h="1775968" w="1775968">
                  <a:moveTo>
                    <a:pt x="50800" y="0"/>
                  </a:moveTo>
                  <a:lnTo>
                    <a:pt x="1725168" y="0"/>
                  </a:lnTo>
                  <a:cubicBezTo>
                    <a:pt x="1753235" y="0"/>
                    <a:pt x="1775968" y="22733"/>
                    <a:pt x="1775968" y="50800"/>
                  </a:cubicBezTo>
                  <a:lnTo>
                    <a:pt x="1775968" y="1725168"/>
                  </a:lnTo>
                  <a:cubicBezTo>
                    <a:pt x="1775968" y="1753235"/>
                    <a:pt x="1753235" y="1775968"/>
                    <a:pt x="1725168" y="1775968"/>
                  </a:cubicBezTo>
                  <a:lnTo>
                    <a:pt x="50800" y="1775968"/>
                  </a:lnTo>
                  <a:cubicBezTo>
                    <a:pt x="22733" y="1775968"/>
                    <a:pt x="0" y="1753235"/>
                    <a:pt x="0" y="1725168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moveTo>
                    <a:pt x="50800" y="101600"/>
                  </a:moveTo>
                  <a:lnTo>
                    <a:pt x="50800" y="50800"/>
                  </a:lnTo>
                  <a:lnTo>
                    <a:pt x="101600" y="50800"/>
                  </a:lnTo>
                  <a:lnTo>
                    <a:pt x="101600" y="1725168"/>
                  </a:lnTo>
                  <a:lnTo>
                    <a:pt x="50800" y="1725168"/>
                  </a:lnTo>
                  <a:lnTo>
                    <a:pt x="50800" y="1674368"/>
                  </a:lnTo>
                  <a:lnTo>
                    <a:pt x="1725168" y="1674368"/>
                  </a:lnTo>
                  <a:lnTo>
                    <a:pt x="1725168" y="1725168"/>
                  </a:lnTo>
                  <a:lnTo>
                    <a:pt x="1674368" y="1725168"/>
                  </a:lnTo>
                  <a:lnTo>
                    <a:pt x="1674368" y="50800"/>
                  </a:lnTo>
                  <a:lnTo>
                    <a:pt x="1725168" y="50800"/>
                  </a:lnTo>
                  <a:lnTo>
                    <a:pt x="1725168" y="101600"/>
                  </a:lnTo>
                  <a:lnTo>
                    <a:pt x="50800" y="101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206136" y="6196668"/>
            <a:ext cx="1332000" cy="1332000"/>
            <a:chOff x="0" y="0"/>
            <a:chExt cx="1776000" cy="1776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50800" y="50800"/>
              <a:ext cx="1674368" cy="1674368"/>
            </a:xfrm>
            <a:custGeom>
              <a:avLst/>
              <a:gdLst/>
              <a:ahLst/>
              <a:cxnLst/>
              <a:rect r="r" b="b" t="t" l="l"/>
              <a:pathLst>
                <a:path h="1674368" w="1674368">
                  <a:moveTo>
                    <a:pt x="0" y="0"/>
                  </a:moveTo>
                  <a:lnTo>
                    <a:pt x="1674368" y="0"/>
                  </a:lnTo>
                  <a:lnTo>
                    <a:pt x="1674368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75968" cy="1775968"/>
            </a:xfrm>
            <a:custGeom>
              <a:avLst/>
              <a:gdLst/>
              <a:ahLst/>
              <a:cxnLst/>
              <a:rect r="r" b="b" t="t" l="l"/>
              <a:pathLst>
                <a:path h="1775968" w="1775968">
                  <a:moveTo>
                    <a:pt x="50800" y="0"/>
                  </a:moveTo>
                  <a:lnTo>
                    <a:pt x="1725168" y="0"/>
                  </a:lnTo>
                  <a:cubicBezTo>
                    <a:pt x="1753235" y="0"/>
                    <a:pt x="1775968" y="22733"/>
                    <a:pt x="1775968" y="50800"/>
                  </a:cubicBezTo>
                  <a:lnTo>
                    <a:pt x="1775968" y="1725168"/>
                  </a:lnTo>
                  <a:cubicBezTo>
                    <a:pt x="1775968" y="1753235"/>
                    <a:pt x="1753235" y="1775968"/>
                    <a:pt x="1725168" y="1775968"/>
                  </a:cubicBezTo>
                  <a:lnTo>
                    <a:pt x="50800" y="1775968"/>
                  </a:lnTo>
                  <a:cubicBezTo>
                    <a:pt x="22733" y="1775968"/>
                    <a:pt x="0" y="1753235"/>
                    <a:pt x="0" y="1725168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moveTo>
                    <a:pt x="50800" y="101600"/>
                  </a:moveTo>
                  <a:lnTo>
                    <a:pt x="50800" y="50800"/>
                  </a:lnTo>
                  <a:lnTo>
                    <a:pt x="101600" y="50800"/>
                  </a:lnTo>
                  <a:lnTo>
                    <a:pt x="101600" y="1725168"/>
                  </a:lnTo>
                  <a:lnTo>
                    <a:pt x="50800" y="1725168"/>
                  </a:lnTo>
                  <a:lnTo>
                    <a:pt x="50800" y="1674368"/>
                  </a:lnTo>
                  <a:lnTo>
                    <a:pt x="1725168" y="1674368"/>
                  </a:lnTo>
                  <a:lnTo>
                    <a:pt x="1725168" y="1725168"/>
                  </a:lnTo>
                  <a:lnTo>
                    <a:pt x="1674368" y="1725168"/>
                  </a:lnTo>
                  <a:lnTo>
                    <a:pt x="1674368" y="50800"/>
                  </a:lnTo>
                  <a:lnTo>
                    <a:pt x="1725168" y="50800"/>
                  </a:lnTo>
                  <a:lnTo>
                    <a:pt x="1725168" y="101600"/>
                  </a:lnTo>
                  <a:lnTo>
                    <a:pt x="50800" y="101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44" id="44"/>
          <p:cNvSpPr/>
          <p:nvPr/>
        </p:nvSpPr>
        <p:spPr>
          <a:xfrm>
            <a:off x="5752686" y="5787650"/>
            <a:ext cx="1742439" cy="24322"/>
          </a:xfrm>
          <a:prstGeom prst="line">
            <a:avLst/>
          </a:prstGeom>
          <a:ln cap="rnd" w="9525">
            <a:solidFill>
              <a:srgbClr val="5538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V="true">
            <a:off x="7914511" y="5787650"/>
            <a:ext cx="2165089" cy="24322"/>
          </a:xfrm>
          <a:prstGeom prst="line">
            <a:avLst/>
          </a:prstGeom>
          <a:ln cap="rnd" w="9525">
            <a:solidFill>
              <a:srgbClr val="5538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>
            <a:off x="10489429" y="5787650"/>
            <a:ext cx="1972742" cy="9525"/>
          </a:xfrm>
          <a:prstGeom prst="line">
            <a:avLst/>
          </a:prstGeom>
          <a:ln cap="rnd" w="9525">
            <a:solidFill>
              <a:srgbClr val="5538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12862579" y="5787650"/>
            <a:ext cx="1972742" cy="9525"/>
          </a:xfrm>
          <a:prstGeom prst="line">
            <a:avLst/>
          </a:prstGeom>
          <a:ln cap="rnd" w="9525">
            <a:solidFill>
              <a:srgbClr val="5538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8" id="48"/>
          <p:cNvSpPr/>
          <p:nvPr/>
        </p:nvSpPr>
        <p:spPr>
          <a:xfrm flipH="false" flipV="false" rot="0">
            <a:off x="12548254" y="6666663"/>
            <a:ext cx="647792" cy="610848"/>
          </a:xfrm>
          <a:custGeom>
            <a:avLst/>
            <a:gdLst/>
            <a:ahLst/>
            <a:cxnLst/>
            <a:rect r="r" b="b" t="t" l="l"/>
            <a:pathLst>
              <a:path h="610848" w="647792">
                <a:moveTo>
                  <a:pt x="0" y="0"/>
                </a:moveTo>
                <a:lnTo>
                  <a:pt x="647792" y="0"/>
                </a:lnTo>
                <a:lnTo>
                  <a:pt x="647792" y="610848"/>
                </a:lnTo>
                <a:lnTo>
                  <a:pt x="0" y="6108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8660854" y="2794692"/>
            <a:ext cx="647792" cy="643586"/>
          </a:xfrm>
          <a:custGeom>
            <a:avLst/>
            <a:gdLst/>
            <a:ahLst/>
            <a:cxnLst/>
            <a:rect r="r" b="b" t="t" l="l"/>
            <a:pathLst>
              <a:path h="643586" w="647792">
                <a:moveTo>
                  <a:pt x="0" y="0"/>
                </a:moveTo>
                <a:lnTo>
                  <a:pt x="647792" y="0"/>
                </a:lnTo>
                <a:lnTo>
                  <a:pt x="647792" y="643586"/>
                </a:lnTo>
                <a:lnTo>
                  <a:pt x="0" y="6435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5225872" y="6883576"/>
            <a:ext cx="647792" cy="645092"/>
          </a:xfrm>
          <a:custGeom>
            <a:avLst/>
            <a:gdLst/>
            <a:ahLst/>
            <a:cxnLst/>
            <a:rect r="r" b="b" t="t" l="l"/>
            <a:pathLst>
              <a:path h="645092" w="647792">
                <a:moveTo>
                  <a:pt x="0" y="0"/>
                </a:moveTo>
                <a:lnTo>
                  <a:pt x="647792" y="0"/>
                </a:lnTo>
                <a:lnTo>
                  <a:pt x="647792" y="645092"/>
                </a:lnTo>
                <a:lnTo>
                  <a:pt x="0" y="64509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2850210" y="2758256"/>
            <a:ext cx="643436" cy="566390"/>
          </a:xfrm>
          <a:custGeom>
            <a:avLst/>
            <a:gdLst/>
            <a:ahLst/>
            <a:cxnLst/>
            <a:rect r="r" b="b" t="t" l="l"/>
            <a:pathLst>
              <a:path h="566390" w="643436">
                <a:moveTo>
                  <a:pt x="0" y="0"/>
                </a:moveTo>
                <a:lnTo>
                  <a:pt x="643436" y="0"/>
                </a:lnTo>
                <a:lnTo>
                  <a:pt x="643436" y="566390"/>
                </a:lnTo>
                <a:lnTo>
                  <a:pt x="0" y="56639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02426" y="8492526"/>
            <a:ext cx="6118200" cy="6118200"/>
            <a:chOff x="0" y="0"/>
            <a:chExt cx="8157600" cy="815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7591" cy="8157591"/>
            </a:xfrm>
            <a:custGeom>
              <a:avLst/>
              <a:gdLst/>
              <a:ahLst/>
              <a:cxnLst/>
              <a:rect r="r" b="b" t="t" l="l"/>
              <a:pathLst>
                <a:path h="8157591" w="8157591">
                  <a:moveTo>
                    <a:pt x="0" y="4078859"/>
                  </a:moveTo>
                  <a:cubicBezTo>
                    <a:pt x="0" y="1826133"/>
                    <a:pt x="1826133" y="0"/>
                    <a:pt x="4078859" y="0"/>
                  </a:cubicBezTo>
                  <a:cubicBezTo>
                    <a:pt x="6331586" y="0"/>
                    <a:pt x="8157591" y="1826133"/>
                    <a:pt x="8157591" y="4078859"/>
                  </a:cubicBezTo>
                  <a:cubicBezTo>
                    <a:pt x="8157591" y="6331586"/>
                    <a:pt x="6331458" y="8157591"/>
                    <a:pt x="4078859" y="8157591"/>
                  </a:cubicBezTo>
                  <a:cubicBezTo>
                    <a:pt x="1826260" y="8157591"/>
                    <a:pt x="0" y="6331458"/>
                    <a:pt x="0" y="4078859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5056859" y="429143"/>
            <a:ext cx="6675322" cy="2206456"/>
          </a:xfrm>
          <a:custGeom>
            <a:avLst/>
            <a:gdLst/>
            <a:ahLst/>
            <a:cxnLst/>
            <a:rect r="r" b="b" t="t" l="l"/>
            <a:pathLst>
              <a:path h="2206456" w="6675322">
                <a:moveTo>
                  <a:pt x="0" y="0"/>
                </a:moveTo>
                <a:lnTo>
                  <a:pt x="6675322" y="0"/>
                </a:lnTo>
                <a:lnTo>
                  <a:pt x="6675322" y="2206456"/>
                </a:lnTo>
                <a:lnTo>
                  <a:pt x="0" y="220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28429" y="9207985"/>
            <a:ext cx="13209700" cy="8287778"/>
          </a:xfrm>
          <a:custGeom>
            <a:avLst/>
            <a:gdLst/>
            <a:ahLst/>
            <a:cxnLst/>
            <a:rect r="r" b="b" t="t" l="l"/>
            <a:pathLst>
              <a:path h="8287778" w="13209700">
                <a:moveTo>
                  <a:pt x="0" y="0"/>
                </a:moveTo>
                <a:lnTo>
                  <a:pt x="13209700" y="0"/>
                </a:lnTo>
                <a:lnTo>
                  <a:pt x="13209700" y="8287778"/>
                </a:lnTo>
                <a:lnTo>
                  <a:pt x="0" y="82877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86878" y="8640590"/>
            <a:ext cx="749314" cy="926300"/>
          </a:xfrm>
          <a:custGeom>
            <a:avLst/>
            <a:gdLst/>
            <a:ahLst/>
            <a:cxnLst/>
            <a:rect r="r" b="b" t="t" l="l"/>
            <a:pathLst>
              <a:path h="926300" w="749314">
                <a:moveTo>
                  <a:pt x="0" y="0"/>
                </a:moveTo>
                <a:lnTo>
                  <a:pt x="749314" y="0"/>
                </a:lnTo>
                <a:lnTo>
                  <a:pt x="749314" y="926300"/>
                </a:lnTo>
                <a:lnTo>
                  <a:pt x="0" y="926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3176" y="9025974"/>
            <a:ext cx="1028498" cy="1261031"/>
          </a:xfrm>
          <a:custGeom>
            <a:avLst/>
            <a:gdLst/>
            <a:ahLst/>
            <a:cxnLst/>
            <a:rect r="r" b="b" t="t" l="l"/>
            <a:pathLst>
              <a:path h="1261031" w="1028498">
                <a:moveTo>
                  <a:pt x="0" y="0"/>
                </a:moveTo>
                <a:lnTo>
                  <a:pt x="1028498" y="0"/>
                </a:lnTo>
                <a:lnTo>
                  <a:pt x="1028498" y="1261031"/>
                </a:lnTo>
                <a:lnTo>
                  <a:pt x="0" y="12610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760824" y="2614150"/>
            <a:ext cx="1332000" cy="1332000"/>
            <a:chOff x="0" y="0"/>
            <a:chExt cx="1776000" cy="177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800" y="50800"/>
              <a:ext cx="1674368" cy="1674368"/>
            </a:xfrm>
            <a:custGeom>
              <a:avLst/>
              <a:gdLst/>
              <a:ahLst/>
              <a:cxnLst/>
              <a:rect r="r" b="b" t="t" l="l"/>
              <a:pathLst>
                <a:path h="1674368" w="1674368">
                  <a:moveTo>
                    <a:pt x="0" y="0"/>
                  </a:moveTo>
                  <a:lnTo>
                    <a:pt x="1674368" y="0"/>
                  </a:lnTo>
                  <a:lnTo>
                    <a:pt x="1674368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75968" cy="1775968"/>
            </a:xfrm>
            <a:custGeom>
              <a:avLst/>
              <a:gdLst/>
              <a:ahLst/>
              <a:cxnLst/>
              <a:rect r="r" b="b" t="t" l="l"/>
              <a:pathLst>
                <a:path h="1775968" w="1775968">
                  <a:moveTo>
                    <a:pt x="50800" y="0"/>
                  </a:moveTo>
                  <a:lnTo>
                    <a:pt x="1725168" y="0"/>
                  </a:lnTo>
                  <a:cubicBezTo>
                    <a:pt x="1753235" y="0"/>
                    <a:pt x="1775968" y="22733"/>
                    <a:pt x="1775968" y="50800"/>
                  </a:cubicBezTo>
                  <a:lnTo>
                    <a:pt x="1775968" y="1725168"/>
                  </a:lnTo>
                  <a:cubicBezTo>
                    <a:pt x="1775968" y="1753235"/>
                    <a:pt x="1753235" y="1775968"/>
                    <a:pt x="1725168" y="1775968"/>
                  </a:cubicBezTo>
                  <a:lnTo>
                    <a:pt x="50800" y="1775968"/>
                  </a:lnTo>
                  <a:cubicBezTo>
                    <a:pt x="22733" y="1775968"/>
                    <a:pt x="0" y="1753235"/>
                    <a:pt x="0" y="1725168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moveTo>
                    <a:pt x="50800" y="101600"/>
                  </a:moveTo>
                  <a:lnTo>
                    <a:pt x="50800" y="50800"/>
                  </a:lnTo>
                  <a:lnTo>
                    <a:pt x="101600" y="50800"/>
                  </a:lnTo>
                  <a:lnTo>
                    <a:pt x="101600" y="1725168"/>
                  </a:lnTo>
                  <a:lnTo>
                    <a:pt x="50800" y="1725168"/>
                  </a:lnTo>
                  <a:lnTo>
                    <a:pt x="50800" y="1674368"/>
                  </a:lnTo>
                  <a:lnTo>
                    <a:pt x="1725168" y="1674368"/>
                  </a:lnTo>
                  <a:lnTo>
                    <a:pt x="1725168" y="1725168"/>
                  </a:lnTo>
                  <a:lnTo>
                    <a:pt x="1674368" y="1725168"/>
                  </a:lnTo>
                  <a:lnTo>
                    <a:pt x="1674368" y="50800"/>
                  </a:lnTo>
                  <a:lnTo>
                    <a:pt x="1725168" y="50800"/>
                  </a:lnTo>
                  <a:lnTo>
                    <a:pt x="1725168" y="101600"/>
                  </a:lnTo>
                  <a:lnTo>
                    <a:pt x="50800" y="101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760824" y="7180276"/>
            <a:ext cx="1332000" cy="1332000"/>
            <a:chOff x="0" y="0"/>
            <a:chExt cx="1776000" cy="177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1674368" cy="1674368"/>
            </a:xfrm>
            <a:custGeom>
              <a:avLst/>
              <a:gdLst/>
              <a:ahLst/>
              <a:cxnLst/>
              <a:rect r="r" b="b" t="t" l="l"/>
              <a:pathLst>
                <a:path h="1674368" w="1674368">
                  <a:moveTo>
                    <a:pt x="0" y="0"/>
                  </a:moveTo>
                  <a:lnTo>
                    <a:pt x="1674368" y="0"/>
                  </a:lnTo>
                  <a:lnTo>
                    <a:pt x="1674368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75968" cy="1775968"/>
            </a:xfrm>
            <a:custGeom>
              <a:avLst/>
              <a:gdLst/>
              <a:ahLst/>
              <a:cxnLst/>
              <a:rect r="r" b="b" t="t" l="l"/>
              <a:pathLst>
                <a:path h="1775968" w="1775968">
                  <a:moveTo>
                    <a:pt x="50800" y="0"/>
                  </a:moveTo>
                  <a:lnTo>
                    <a:pt x="1725168" y="0"/>
                  </a:lnTo>
                  <a:cubicBezTo>
                    <a:pt x="1753235" y="0"/>
                    <a:pt x="1775968" y="22733"/>
                    <a:pt x="1775968" y="50800"/>
                  </a:cubicBezTo>
                  <a:lnTo>
                    <a:pt x="1775968" y="1725168"/>
                  </a:lnTo>
                  <a:cubicBezTo>
                    <a:pt x="1775968" y="1753235"/>
                    <a:pt x="1753235" y="1775968"/>
                    <a:pt x="1725168" y="1775968"/>
                  </a:cubicBezTo>
                  <a:lnTo>
                    <a:pt x="50800" y="1775968"/>
                  </a:lnTo>
                  <a:cubicBezTo>
                    <a:pt x="22733" y="1775968"/>
                    <a:pt x="0" y="1753235"/>
                    <a:pt x="0" y="1725168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moveTo>
                    <a:pt x="50800" y="101600"/>
                  </a:moveTo>
                  <a:lnTo>
                    <a:pt x="50800" y="50800"/>
                  </a:lnTo>
                  <a:lnTo>
                    <a:pt x="101600" y="50800"/>
                  </a:lnTo>
                  <a:lnTo>
                    <a:pt x="101600" y="1725168"/>
                  </a:lnTo>
                  <a:lnTo>
                    <a:pt x="50800" y="1725168"/>
                  </a:lnTo>
                  <a:lnTo>
                    <a:pt x="50800" y="1674368"/>
                  </a:lnTo>
                  <a:lnTo>
                    <a:pt x="1725168" y="1674368"/>
                  </a:lnTo>
                  <a:lnTo>
                    <a:pt x="1725168" y="1725168"/>
                  </a:lnTo>
                  <a:lnTo>
                    <a:pt x="1674368" y="1725168"/>
                  </a:lnTo>
                  <a:lnTo>
                    <a:pt x="1674368" y="50800"/>
                  </a:lnTo>
                  <a:lnTo>
                    <a:pt x="1725168" y="50800"/>
                  </a:lnTo>
                  <a:lnTo>
                    <a:pt x="1725168" y="101600"/>
                  </a:lnTo>
                  <a:lnTo>
                    <a:pt x="50800" y="101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203324" y="5143500"/>
            <a:ext cx="1332000" cy="1332000"/>
            <a:chOff x="0" y="0"/>
            <a:chExt cx="1776000" cy="177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800" y="50800"/>
              <a:ext cx="1674368" cy="1674368"/>
            </a:xfrm>
            <a:custGeom>
              <a:avLst/>
              <a:gdLst/>
              <a:ahLst/>
              <a:cxnLst/>
              <a:rect r="r" b="b" t="t" l="l"/>
              <a:pathLst>
                <a:path h="1674368" w="1674368">
                  <a:moveTo>
                    <a:pt x="0" y="0"/>
                  </a:moveTo>
                  <a:lnTo>
                    <a:pt x="1674368" y="0"/>
                  </a:lnTo>
                  <a:lnTo>
                    <a:pt x="1674368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75968" cy="1775968"/>
            </a:xfrm>
            <a:custGeom>
              <a:avLst/>
              <a:gdLst/>
              <a:ahLst/>
              <a:cxnLst/>
              <a:rect r="r" b="b" t="t" l="l"/>
              <a:pathLst>
                <a:path h="1775968" w="1775968">
                  <a:moveTo>
                    <a:pt x="50800" y="0"/>
                  </a:moveTo>
                  <a:lnTo>
                    <a:pt x="1725168" y="0"/>
                  </a:lnTo>
                  <a:cubicBezTo>
                    <a:pt x="1753235" y="0"/>
                    <a:pt x="1775968" y="22733"/>
                    <a:pt x="1775968" y="50800"/>
                  </a:cubicBezTo>
                  <a:lnTo>
                    <a:pt x="1775968" y="1725168"/>
                  </a:lnTo>
                  <a:cubicBezTo>
                    <a:pt x="1775968" y="1753235"/>
                    <a:pt x="1753235" y="1775968"/>
                    <a:pt x="1725168" y="1775968"/>
                  </a:cubicBezTo>
                  <a:lnTo>
                    <a:pt x="50800" y="1775968"/>
                  </a:lnTo>
                  <a:cubicBezTo>
                    <a:pt x="22733" y="1775968"/>
                    <a:pt x="0" y="1753235"/>
                    <a:pt x="0" y="1725168"/>
                  </a:cubicBezTo>
                  <a:lnTo>
                    <a:pt x="0" y="50800"/>
                  </a:lnTo>
                  <a:cubicBezTo>
                    <a:pt x="0" y="22733"/>
                    <a:pt x="22733" y="0"/>
                    <a:pt x="50800" y="0"/>
                  </a:cubicBezTo>
                  <a:moveTo>
                    <a:pt x="50800" y="101600"/>
                  </a:moveTo>
                  <a:lnTo>
                    <a:pt x="50800" y="50800"/>
                  </a:lnTo>
                  <a:lnTo>
                    <a:pt x="101600" y="50800"/>
                  </a:lnTo>
                  <a:lnTo>
                    <a:pt x="101600" y="1725168"/>
                  </a:lnTo>
                  <a:lnTo>
                    <a:pt x="50800" y="1725168"/>
                  </a:lnTo>
                  <a:lnTo>
                    <a:pt x="50800" y="1674368"/>
                  </a:lnTo>
                  <a:lnTo>
                    <a:pt x="1725168" y="1674368"/>
                  </a:lnTo>
                  <a:lnTo>
                    <a:pt x="1725168" y="1725168"/>
                  </a:lnTo>
                  <a:lnTo>
                    <a:pt x="1674368" y="1725168"/>
                  </a:lnTo>
                  <a:lnTo>
                    <a:pt x="1674368" y="50800"/>
                  </a:lnTo>
                  <a:lnTo>
                    <a:pt x="1725168" y="50800"/>
                  </a:lnTo>
                  <a:lnTo>
                    <a:pt x="1725168" y="101600"/>
                  </a:lnTo>
                  <a:lnTo>
                    <a:pt x="50800" y="101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5105110" y="7524436"/>
            <a:ext cx="643436" cy="643738"/>
          </a:xfrm>
          <a:custGeom>
            <a:avLst/>
            <a:gdLst/>
            <a:ahLst/>
            <a:cxnLst/>
            <a:rect r="r" b="b" t="t" l="l"/>
            <a:pathLst>
              <a:path h="643738" w="643436">
                <a:moveTo>
                  <a:pt x="0" y="0"/>
                </a:moveTo>
                <a:lnTo>
                  <a:pt x="643436" y="0"/>
                </a:lnTo>
                <a:lnTo>
                  <a:pt x="643436" y="643738"/>
                </a:lnTo>
                <a:lnTo>
                  <a:pt x="0" y="6437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105110" y="3064919"/>
            <a:ext cx="642386" cy="430462"/>
          </a:xfrm>
          <a:custGeom>
            <a:avLst/>
            <a:gdLst/>
            <a:ahLst/>
            <a:cxnLst/>
            <a:rect r="r" b="b" t="t" l="l"/>
            <a:pathLst>
              <a:path h="430462" w="642386">
                <a:moveTo>
                  <a:pt x="0" y="0"/>
                </a:moveTo>
                <a:lnTo>
                  <a:pt x="642386" y="0"/>
                </a:lnTo>
                <a:lnTo>
                  <a:pt x="642386" y="430462"/>
                </a:lnTo>
                <a:lnTo>
                  <a:pt x="0" y="4304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525126" y="5525554"/>
            <a:ext cx="688396" cy="422002"/>
          </a:xfrm>
          <a:custGeom>
            <a:avLst/>
            <a:gdLst/>
            <a:ahLst/>
            <a:cxnLst/>
            <a:rect r="r" b="b" t="t" l="l"/>
            <a:pathLst>
              <a:path h="422002" w="688396">
                <a:moveTo>
                  <a:pt x="0" y="0"/>
                </a:moveTo>
                <a:lnTo>
                  <a:pt x="688396" y="0"/>
                </a:lnTo>
                <a:lnTo>
                  <a:pt x="688396" y="422002"/>
                </a:lnTo>
                <a:lnTo>
                  <a:pt x="0" y="42200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128659" y="2524631"/>
            <a:ext cx="3703620" cy="6001846"/>
          </a:xfrm>
          <a:custGeom>
            <a:avLst/>
            <a:gdLst/>
            <a:ahLst/>
            <a:cxnLst/>
            <a:rect r="r" b="b" t="t" l="l"/>
            <a:pathLst>
              <a:path h="6001846" w="3703620">
                <a:moveTo>
                  <a:pt x="0" y="0"/>
                </a:moveTo>
                <a:lnTo>
                  <a:pt x="3703620" y="0"/>
                </a:lnTo>
                <a:lnTo>
                  <a:pt x="3703620" y="6001846"/>
                </a:lnTo>
                <a:lnTo>
                  <a:pt x="0" y="600184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422301">
            <a:off x="7635386" y="3115170"/>
            <a:ext cx="2665970" cy="4620396"/>
          </a:xfrm>
          <a:custGeom>
            <a:avLst/>
            <a:gdLst/>
            <a:ahLst/>
            <a:cxnLst/>
            <a:rect r="r" b="b" t="t" l="l"/>
            <a:pathLst>
              <a:path h="4620396" w="2665970">
                <a:moveTo>
                  <a:pt x="0" y="0"/>
                </a:moveTo>
                <a:lnTo>
                  <a:pt x="2665970" y="0"/>
                </a:lnTo>
                <a:lnTo>
                  <a:pt x="2665970" y="4620396"/>
                </a:lnTo>
                <a:lnTo>
                  <a:pt x="0" y="462039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-1"/>
            </a:stretch>
          </a:blipFill>
        </p:spPr>
      </p:sp>
      <p:sp>
        <p:nvSpPr>
          <p:cNvPr name="AutoShape 22" id="22"/>
          <p:cNvSpPr/>
          <p:nvPr/>
        </p:nvSpPr>
        <p:spPr>
          <a:xfrm>
            <a:off x="5718291" y="6719776"/>
            <a:ext cx="4274666" cy="9525"/>
          </a:xfrm>
          <a:prstGeom prst="line">
            <a:avLst/>
          </a:prstGeom>
          <a:ln cap="rnd" w="9525">
            <a:solidFill>
              <a:srgbClr val="553868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TextBox 23" id="23"/>
          <p:cNvSpPr txBox="true"/>
          <p:nvPr/>
        </p:nvSpPr>
        <p:spPr>
          <a:xfrm rot="0">
            <a:off x="684049" y="2407691"/>
            <a:ext cx="30385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Nada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5449" y="7161226"/>
            <a:ext cx="30385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Dina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22599" y="5225076"/>
            <a:ext cx="303555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Marwa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88274" y="3170382"/>
            <a:ext cx="2130863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Data Collection &amp;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Preprocessing  Modeling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88274" y="7806224"/>
            <a:ext cx="207727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Preprocessing     Modeling&amp; Presentation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22599" y="5947556"/>
            <a:ext cx="359333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Encoding &amp; Modeling</a:t>
            </a:r>
          </a:p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553868"/>
                </a:solidFill>
                <a:latin typeface="DM Sans"/>
                <a:ea typeface="DM Sans"/>
                <a:cs typeface="DM Sans"/>
                <a:sym typeface="DM Sans"/>
              </a:rPr>
              <a:t>Data analysis Dashboard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357417" y="5228908"/>
            <a:ext cx="557316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6045199" y="537527"/>
            <a:ext cx="557316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5538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Individual Work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42004" y="2568924"/>
            <a:ext cx="3351330" cy="60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5"/>
              </a:lnSpc>
            </a:pPr>
            <a:r>
              <a:rPr lang="en-US" sz="3539">
                <a:solidFill>
                  <a:srgbClr val="553868"/>
                </a:solidFill>
                <a:latin typeface="Canva Sans"/>
                <a:ea typeface="Canva Sans"/>
                <a:cs typeface="Canva Sans"/>
                <a:sym typeface="Canva Sans"/>
              </a:rPr>
              <a:t>Sharable Works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78423" y="3530392"/>
            <a:ext cx="2879692" cy="122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sz="2665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Data Exploration</a:t>
            </a:r>
          </a:p>
          <a:p>
            <a:pPr algn="ctr">
              <a:lnSpc>
                <a:spcPts val="3198"/>
              </a:lnSpc>
            </a:pPr>
            <a:r>
              <a:rPr lang="en-US" sz="2665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Report</a:t>
            </a:r>
          </a:p>
          <a:p>
            <a:pPr algn="ctr">
              <a:lnSpc>
                <a:spcPts val="31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2D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0276" y="9207976"/>
            <a:ext cx="6118200" cy="6118200"/>
            <a:chOff x="0" y="0"/>
            <a:chExt cx="8157600" cy="815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7591" cy="8157591"/>
            </a:xfrm>
            <a:custGeom>
              <a:avLst/>
              <a:gdLst/>
              <a:ahLst/>
              <a:cxnLst/>
              <a:rect r="r" b="b" t="t" l="l"/>
              <a:pathLst>
                <a:path h="8157591" w="8157591">
                  <a:moveTo>
                    <a:pt x="0" y="4078859"/>
                  </a:moveTo>
                  <a:cubicBezTo>
                    <a:pt x="0" y="1826133"/>
                    <a:pt x="1826133" y="0"/>
                    <a:pt x="4078859" y="0"/>
                  </a:cubicBezTo>
                  <a:cubicBezTo>
                    <a:pt x="6331586" y="0"/>
                    <a:pt x="8157591" y="1826133"/>
                    <a:pt x="8157591" y="4078859"/>
                  </a:cubicBezTo>
                  <a:cubicBezTo>
                    <a:pt x="8157591" y="6331586"/>
                    <a:pt x="6331458" y="8157591"/>
                    <a:pt x="4078859" y="8157591"/>
                  </a:cubicBezTo>
                  <a:cubicBezTo>
                    <a:pt x="1826260" y="8157591"/>
                    <a:pt x="0" y="6331458"/>
                    <a:pt x="0" y="4078859"/>
                  </a:cubicBezTo>
                  <a:close/>
                </a:path>
              </a:pathLst>
            </a:custGeom>
            <a:solidFill>
              <a:srgbClr val="897FBB">
                <a:alpha val="823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779412" y="9208008"/>
            <a:ext cx="12765874" cy="3247098"/>
          </a:xfrm>
          <a:custGeom>
            <a:avLst/>
            <a:gdLst/>
            <a:ahLst/>
            <a:cxnLst/>
            <a:rect r="r" b="b" t="t" l="l"/>
            <a:pathLst>
              <a:path h="3247098" w="12765874">
                <a:moveTo>
                  <a:pt x="0" y="0"/>
                </a:moveTo>
                <a:lnTo>
                  <a:pt x="12765874" y="0"/>
                </a:lnTo>
                <a:lnTo>
                  <a:pt x="12765874" y="3247098"/>
                </a:lnTo>
                <a:lnTo>
                  <a:pt x="0" y="32470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426" y="9124828"/>
            <a:ext cx="1500024" cy="1260847"/>
          </a:xfrm>
          <a:custGeom>
            <a:avLst/>
            <a:gdLst/>
            <a:ahLst/>
            <a:cxnLst/>
            <a:rect r="r" b="b" t="t" l="l"/>
            <a:pathLst>
              <a:path h="1260847" w="1500024">
                <a:moveTo>
                  <a:pt x="0" y="0"/>
                </a:moveTo>
                <a:lnTo>
                  <a:pt x="1500024" y="0"/>
                </a:lnTo>
                <a:lnTo>
                  <a:pt x="1500024" y="1260847"/>
                </a:lnTo>
                <a:lnTo>
                  <a:pt x="0" y="1260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30276" y="2392292"/>
            <a:ext cx="12134226" cy="275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82"/>
              </a:lnSpc>
            </a:pPr>
            <a:r>
              <a:rPr lang="en-US" sz="15318">
                <a:solidFill>
                  <a:srgbClr val="553868"/>
                </a:solidFill>
                <a:latin typeface="Arimo"/>
                <a:ea typeface="Arimo"/>
                <a:cs typeface="Arimo"/>
                <a:sym typeface="Arimo"/>
              </a:rPr>
              <a:t>THANKS!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297324" y="-2943528"/>
            <a:ext cx="4521936" cy="8512336"/>
          </a:xfrm>
          <a:custGeom>
            <a:avLst/>
            <a:gdLst/>
            <a:ahLst/>
            <a:cxnLst/>
            <a:rect r="r" b="b" t="t" l="l"/>
            <a:pathLst>
              <a:path h="8512336" w="4521936">
                <a:moveTo>
                  <a:pt x="0" y="0"/>
                </a:moveTo>
                <a:lnTo>
                  <a:pt x="4521936" y="0"/>
                </a:lnTo>
                <a:lnTo>
                  <a:pt x="4521936" y="8512336"/>
                </a:lnTo>
                <a:lnTo>
                  <a:pt x="0" y="85123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80548" y="7598890"/>
            <a:ext cx="5803200" cy="1928710"/>
          </a:xfrm>
          <a:custGeom>
            <a:avLst/>
            <a:gdLst/>
            <a:ahLst/>
            <a:cxnLst/>
            <a:rect r="r" b="b" t="t" l="l"/>
            <a:pathLst>
              <a:path h="1928710" w="5803200">
                <a:moveTo>
                  <a:pt x="0" y="0"/>
                </a:moveTo>
                <a:lnTo>
                  <a:pt x="5803200" y="0"/>
                </a:lnTo>
                <a:lnTo>
                  <a:pt x="5803200" y="1928710"/>
                </a:lnTo>
                <a:lnTo>
                  <a:pt x="0" y="19287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DAHCr3ZnbgI</dc:identifier>
  <dcterms:modified xsi:type="dcterms:W3CDTF">2011-08-01T06:04:30Z</dcterms:modified>
  <cp:revision>1</cp:revision>
  <dc:title>Copy of road-traffic-accident-reporting-app-pitch-deck.pptx</dc:title>
</cp:coreProperties>
</file>